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74" r:id="rId2"/>
    <p:sldId id="256" r:id="rId3"/>
    <p:sldId id="273" r:id="rId4"/>
    <p:sldId id="258" r:id="rId5"/>
    <p:sldId id="262" r:id="rId6"/>
    <p:sldId id="259" r:id="rId7"/>
    <p:sldId id="260" r:id="rId8"/>
    <p:sldId id="261"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FD27BB-12F4-4BAB-80A2-88D65402071A}" type="datetimeFigureOut">
              <a:rPr lang="en-US" smtClean="0"/>
              <a:t>7/23/2025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68E488-06EF-4F64-9ADA-517ADA81AC94}" type="slidenum">
              <a:rPr lang="en-US" smtClean="0"/>
              <a:t>‹#›</a:t>
            </a:fld>
            <a:endParaRPr lang="en-US"/>
          </a:p>
        </p:txBody>
      </p:sp>
    </p:spTree>
    <p:extLst>
      <p:ext uri="{BB962C8B-B14F-4D97-AF65-F5344CB8AC3E}">
        <p14:creationId xmlns:p14="http://schemas.microsoft.com/office/powerpoint/2010/main" val="946618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a:prstGeom prst="rect">
            <a:avLst/>
          </a:prstGeom>
          <a:noFill/>
          <a:ln w="12700">
            <a:solidFill>
              <a:prstClr val="black"/>
            </a:solidFill>
          </a:ln>
        </p:spPr>
      </p:sp>
      <p:sp>
        <p:nvSpPr>
          <p:cNvPr id="3" name="Notes Placeholder 2"/>
          <p:cNvSpPr>
            <a:spLocks noGrp="1"/>
          </p:cNvSpPr>
          <p:nvPr>
            <p:ph type="body" idx="1"/>
          </p:nvPr>
        </p:nvSpPr>
        <p:spPr>
          <a:xfrm>
            <a:off x="685272" y="4343798"/>
            <a:ext cx="5487458" cy="4114601"/>
          </a:xfrm>
          <a:prstGeom prst="rect">
            <a:avLst/>
          </a:prstGeom>
        </p:spPr>
        <p:txBody>
          <a:bodyPr/>
          <a:lstStyle/>
          <a:p>
            <a:endParaRPr lang="en-US" dirty="0"/>
          </a:p>
        </p:txBody>
      </p:sp>
    </p:spTree>
    <p:extLst>
      <p:ext uri="{BB962C8B-B14F-4D97-AF65-F5344CB8AC3E}">
        <p14:creationId xmlns:p14="http://schemas.microsoft.com/office/powerpoint/2010/main" val="12336829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41F5E-554B-5C77-93A3-5B12B55BE2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9FC5CA2-F157-0D04-2021-96F212289D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E572C1-0EB6-58A4-E8B7-D9D626248B2B}"/>
              </a:ext>
            </a:extLst>
          </p:cNvPr>
          <p:cNvSpPr>
            <a:spLocks noGrp="1"/>
          </p:cNvSpPr>
          <p:nvPr>
            <p:ph type="dt" sz="half" idx="10"/>
          </p:nvPr>
        </p:nvSpPr>
        <p:spPr/>
        <p:txBody>
          <a:bodyPr/>
          <a:lstStyle/>
          <a:p>
            <a:fld id="{621A2136-CCB1-48C2-BC9A-33B7B1CA3AE3}" type="datetimeFigureOut">
              <a:rPr lang="en-IN" smtClean="0"/>
              <a:t>23-07-2025</a:t>
            </a:fld>
            <a:endParaRPr lang="en-IN"/>
          </a:p>
        </p:txBody>
      </p:sp>
      <p:sp>
        <p:nvSpPr>
          <p:cNvPr id="5" name="Footer Placeholder 4">
            <a:extLst>
              <a:ext uri="{FF2B5EF4-FFF2-40B4-BE49-F238E27FC236}">
                <a16:creationId xmlns:a16="http://schemas.microsoft.com/office/drawing/2014/main" id="{F6D099D6-A2BB-C037-2456-8F5E707DBB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A511FF-288F-23AD-5BA3-1ACEC2FE6B3F}"/>
              </a:ext>
            </a:extLst>
          </p:cNvPr>
          <p:cNvSpPr>
            <a:spLocks noGrp="1"/>
          </p:cNvSpPr>
          <p:nvPr>
            <p:ph type="sldNum" sz="quarter" idx="12"/>
          </p:nvPr>
        </p:nvSpPr>
        <p:spPr/>
        <p:txBody>
          <a:bodyPr/>
          <a:lstStyle/>
          <a:p>
            <a:fld id="{9D57F5EC-C255-4776-A0BA-ABB149D75F47}" type="slidenum">
              <a:rPr lang="en-IN" smtClean="0"/>
              <a:t>‹#›</a:t>
            </a:fld>
            <a:endParaRPr lang="en-IN"/>
          </a:p>
        </p:txBody>
      </p:sp>
    </p:spTree>
    <p:extLst>
      <p:ext uri="{BB962C8B-B14F-4D97-AF65-F5344CB8AC3E}">
        <p14:creationId xmlns:p14="http://schemas.microsoft.com/office/powerpoint/2010/main" val="3975373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633AE-43AC-0479-5DB0-C394D7A0EA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367B85-8551-900A-3E45-D5175FDF76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632FDE-52E6-76EA-CC23-F7F8380EC40C}"/>
              </a:ext>
            </a:extLst>
          </p:cNvPr>
          <p:cNvSpPr>
            <a:spLocks noGrp="1"/>
          </p:cNvSpPr>
          <p:nvPr>
            <p:ph type="dt" sz="half" idx="10"/>
          </p:nvPr>
        </p:nvSpPr>
        <p:spPr/>
        <p:txBody>
          <a:bodyPr/>
          <a:lstStyle/>
          <a:p>
            <a:fld id="{621A2136-CCB1-48C2-BC9A-33B7B1CA3AE3}" type="datetimeFigureOut">
              <a:rPr lang="en-IN" smtClean="0"/>
              <a:t>23-07-2025</a:t>
            </a:fld>
            <a:endParaRPr lang="en-IN"/>
          </a:p>
        </p:txBody>
      </p:sp>
      <p:sp>
        <p:nvSpPr>
          <p:cNvPr id="5" name="Footer Placeholder 4">
            <a:extLst>
              <a:ext uri="{FF2B5EF4-FFF2-40B4-BE49-F238E27FC236}">
                <a16:creationId xmlns:a16="http://schemas.microsoft.com/office/drawing/2014/main" id="{85926F88-F740-9F51-3B8C-EFFF8A908B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45A07D-49F2-5002-95EF-3563E0E3D9D0}"/>
              </a:ext>
            </a:extLst>
          </p:cNvPr>
          <p:cNvSpPr>
            <a:spLocks noGrp="1"/>
          </p:cNvSpPr>
          <p:nvPr>
            <p:ph type="sldNum" sz="quarter" idx="12"/>
          </p:nvPr>
        </p:nvSpPr>
        <p:spPr/>
        <p:txBody>
          <a:bodyPr/>
          <a:lstStyle/>
          <a:p>
            <a:fld id="{9D57F5EC-C255-4776-A0BA-ABB149D75F47}" type="slidenum">
              <a:rPr lang="en-IN" smtClean="0"/>
              <a:t>‹#›</a:t>
            </a:fld>
            <a:endParaRPr lang="en-IN"/>
          </a:p>
        </p:txBody>
      </p:sp>
    </p:spTree>
    <p:extLst>
      <p:ext uri="{BB962C8B-B14F-4D97-AF65-F5344CB8AC3E}">
        <p14:creationId xmlns:p14="http://schemas.microsoft.com/office/powerpoint/2010/main" val="1683724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52EBD-E300-AA06-49F1-AB6B4523B7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26FB757-7CAA-D745-09FE-B243471BFA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7FD3CF-032D-EACD-1DAE-8A4FA73CF12F}"/>
              </a:ext>
            </a:extLst>
          </p:cNvPr>
          <p:cNvSpPr>
            <a:spLocks noGrp="1"/>
          </p:cNvSpPr>
          <p:nvPr>
            <p:ph type="dt" sz="half" idx="10"/>
          </p:nvPr>
        </p:nvSpPr>
        <p:spPr/>
        <p:txBody>
          <a:bodyPr/>
          <a:lstStyle/>
          <a:p>
            <a:fld id="{621A2136-CCB1-48C2-BC9A-33B7B1CA3AE3}" type="datetimeFigureOut">
              <a:rPr lang="en-IN" smtClean="0"/>
              <a:t>23-07-2025</a:t>
            </a:fld>
            <a:endParaRPr lang="en-IN"/>
          </a:p>
        </p:txBody>
      </p:sp>
      <p:sp>
        <p:nvSpPr>
          <p:cNvPr id="5" name="Footer Placeholder 4">
            <a:extLst>
              <a:ext uri="{FF2B5EF4-FFF2-40B4-BE49-F238E27FC236}">
                <a16:creationId xmlns:a16="http://schemas.microsoft.com/office/drawing/2014/main" id="{5654DA90-F73C-6E15-CF97-2F67E94409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03F154-E367-7E16-D0D5-E5CB26238DBE}"/>
              </a:ext>
            </a:extLst>
          </p:cNvPr>
          <p:cNvSpPr>
            <a:spLocks noGrp="1"/>
          </p:cNvSpPr>
          <p:nvPr>
            <p:ph type="sldNum" sz="quarter" idx="12"/>
          </p:nvPr>
        </p:nvSpPr>
        <p:spPr/>
        <p:txBody>
          <a:bodyPr/>
          <a:lstStyle/>
          <a:p>
            <a:fld id="{9D57F5EC-C255-4776-A0BA-ABB149D75F47}" type="slidenum">
              <a:rPr lang="en-IN" smtClean="0"/>
              <a:t>‹#›</a:t>
            </a:fld>
            <a:endParaRPr lang="en-IN"/>
          </a:p>
        </p:txBody>
      </p:sp>
    </p:spTree>
    <p:extLst>
      <p:ext uri="{BB962C8B-B14F-4D97-AF65-F5344CB8AC3E}">
        <p14:creationId xmlns:p14="http://schemas.microsoft.com/office/powerpoint/2010/main" val="1802330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18A71-7B1C-7977-FE51-90EFF8523F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C2B5D76-A740-CDC2-9C08-F620F28623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6059DF6-1AA9-1519-9DDC-60639EB5F9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4C1B8DE-F774-7475-0E8F-C009CC0C1944}"/>
              </a:ext>
            </a:extLst>
          </p:cNvPr>
          <p:cNvSpPr>
            <a:spLocks noGrp="1"/>
          </p:cNvSpPr>
          <p:nvPr>
            <p:ph type="dt" sz="half" idx="10"/>
          </p:nvPr>
        </p:nvSpPr>
        <p:spPr/>
        <p:txBody>
          <a:bodyPr/>
          <a:lstStyle/>
          <a:p>
            <a:fld id="{621A2136-CCB1-48C2-BC9A-33B7B1CA3AE3}" type="datetimeFigureOut">
              <a:rPr lang="en-IN" smtClean="0"/>
              <a:t>23-07-2025</a:t>
            </a:fld>
            <a:endParaRPr lang="en-IN"/>
          </a:p>
        </p:txBody>
      </p:sp>
      <p:sp>
        <p:nvSpPr>
          <p:cNvPr id="6" name="Footer Placeholder 5">
            <a:extLst>
              <a:ext uri="{FF2B5EF4-FFF2-40B4-BE49-F238E27FC236}">
                <a16:creationId xmlns:a16="http://schemas.microsoft.com/office/drawing/2014/main" id="{AD82FA60-F175-69FE-44DA-E2BF32BDC8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C25EC9-068F-E0DE-A9E0-D1BEE60D90C2}"/>
              </a:ext>
            </a:extLst>
          </p:cNvPr>
          <p:cNvSpPr>
            <a:spLocks noGrp="1"/>
          </p:cNvSpPr>
          <p:nvPr>
            <p:ph type="sldNum" sz="quarter" idx="12"/>
          </p:nvPr>
        </p:nvSpPr>
        <p:spPr/>
        <p:txBody>
          <a:bodyPr/>
          <a:lstStyle/>
          <a:p>
            <a:fld id="{9D57F5EC-C255-4776-A0BA-ABB149D75F47}" type="slidenum">
              <a:rPr lang="en-IN" smtClean="0"/>
              <a:t>‹#›</a:t>
            </a:fld>
            <a:endParaRPr lang="en-IN"/>
          </a:p>
        </p:txBody>
      </p:sp>
    </p:spTree>
    <p:extLst>
      <p:ext uri="{BB962C8B-B14F-4D97-AF65-F5344CB8AC3E}">
        <p14:creationId xmlns:p14="http://schemas.microsoft.com/office/powerpoint/2010/main" val="816116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DB152-EC6E-A906-1E8C-52026B1B0A2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05F1479-8B0F-005D-A948-453040B36E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1F59D4-F3E9-F0DF-A79B-9695B0EA23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E90C75D-E9D4-16EF-D4F2-696F0FEBE6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98BC88-AF7D-2FA7-47D7-A798A2D3B9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C6DEE61-52CC-3A19-13E6-A1C76997637F}"/>
              </a:ext>
            </a:extLst>
          </p:cNvPr>
          <p:cNvSpPr>
            <a:spLocks noGrp="1"/>
          </p:cNvSpPr>
          <p:nvPr>
            <p:ph type="dt" sz="half" idx="10"/>
          </p:nvPr>
        </p:nvSpPr>
        <p:spPr/>
        <p:txBody>
          <a:bodyPr/>
          <a:lstStyle/>
          <a:p>
            <a:fld id="{621A2136-CCB1-48C2-BC9A-33B7B1CA3AE3}" type="datetimeFigureOut">
              <a:rPr lang="en-IN" smtClean="0"/>
              <a:t>23-07-2025</a:t>
            </a:fld>
            <a:endParaRPr lang="en-IN"/>
          </a:p>
        </p:txBody>
      </p:sp>
      <p:sp>
        <p:nvSpPr>
          <p:cNvPr id="8" name="Footer Placeholder 7">
            <a:extLst>
              <a:ext uri="{FF2B5EF4-FFF2-40B4-BE49-F238E27FC236}">
                <a16:creationId xmlns:a16="http://schemas.microsoft.com/office/drawing/2014/main" id="{74E785CB-3771-D628-B809-57C0BC94BD3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001E4FB-EF72-2600-F6F9-6A1072623862}"/>
              </a:ext>
            </a:extLst>
          </p:cNvPr>
          <p:cNvSpPr>
            <a:spLocks noGrp="1"/>
          </p:cNvSpPr>
          <p:nvPr>
            <p:ph type="sldNum" sz="quarter" idx="12"/>
          </p:nvPr>
        </p:nvSpPr>
        <p:spPr/>
        <p:txBody>
          <a:bodyPr/>
          <a:lstStyle/>
          <a:p>
            <a:fld id="{9D57F5EC-C255-4776-A0BA-ABB149D75F47}" type="slidenum">
              <a:rPr lang="en-IN" smtClean="0"/>
              <a:t>‹#›</a:t>
            </a:fld>
            <a:endParaRPr lang="en-IN"/>
          </a:p>
        </p:txBody>
      </p:sp>
    </p:spTree>
    <p:extLst>
      <p:ext uri="{BB962C8B-B14F-4D97-AF65-F5344CB8AC3E}">
        <p14:creationId xmlns:p14="http://schemas.microsoft.com/office/powerpoint/2010/main" val="1314805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984D2-AC55-3937-8BCA-2B6E7D96E1E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5FD8034-D805-26CD-E440-C89FBE29870F}"/>
              </a:ext>
            </a:extLst>
          </p:cNvPr>
          <p:cNvSpPr>
            <a:spLocks noGrp="1"/>
          </p:cNvSpPr>
          <p:nvPr>
            <p:ph type="dt" sz="half" idx="10"/>
          </p:nvPr>
        </p:nvSpPr>
        <p:spPr/>
        <p:txBody>
          <a:bodyPr/>
          <a:lstStyle/>
          <a:p>
            <a:fld id="{621A2136-CCB1-48C2-BC9A-33B7B1CA3AE3}" type="datetimeFigureOut">
              <a:rPr lang="en-IN" smtClean="0"/>
              <a:t>23-07-2025</a:t>
            </a:fld>
            <a:endParaRPr lang="en-IN"/>
          </a:p>
        </p:txBody>
      </p:sp>
      <p:sp>
        <p:nvSpPr>
          <p:cNvPr id="4" name="Footer Placeholder 3">
            <a:extLst>
              <a:ext uri="{FF2B5EF4-FFF2-40B4-BE49-F238E27FC236}">
                <a16:creationId xmlns:a16="http://schemas.microsoft.com/office/drawing/2014/main" id="{1DAB5D94-0B13-1F0F-1473-17605F704FE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F336459-CC6C-9D43-5799-8A60F8437309}"/>
              </a:ext>
            </a:extLst>
          </p:cNvPr>
          <p:cNvSpPr>
            <a:spLocks noGrp="1"/>
          </p:cNvSpPr>
          <p:nvPr>
            <p:ph type="sldNum" sz="quarter" idx="12"/>
          </p:nvPr>
        </p:nvSpPr>
        <p:spPr/>
        <p:txBody>
          <a:bodyPr/>
          <a:lstStyle/>
          <a:p>
            <a:fld id="{9D57F5EC-C255-4776-A0BA-ABB149D75F47}" type="slidenum">
              <a:rPr lang="en-IN" smtClean="0"/>
              <a:t>‹#›</a:t>
            </a:fld>
            <a:endParaRPr lang="en-IN"/>
          </a:p>
        </p:txBody>
      </p:sp>
    </p:spTree>
    <p:extLst>
      <p:ext uri="{BB962C8B-B14F-4D97-AF65-F5344CB8AC3E}">
        <p14:creationId xmlns:p14="http://schemas.microsoft.com/office/powerpoint/2010/main" val="2536412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221650-F42F-86BF-AAC5-A6F1C74D1BA5}"/>
              </a:ext>
            </a:extLst>
          </p:cNvPr>
          <p:cNvSpPr>
            <a:spLocks noGrp="1"/>
          </p:cNvSpPr>
          <p:nvPr>
            <p:ph type="dt" sz="half" idx="10"/>
          </p:nvPr>
        </p:nvSpPr>
        <p:spPr/>
        <p:txBody>
          <a:bodyPr/>
          <a:lstStyle/>
          <a:p>
            <a:fld id="{621A2136-CCB1-48C2-BC9A-33B7B1CA3AE3}" type="datetimeFigureOut">
              <a:rPr lang="en-IN" smtClean="0"/>
              <a:t>23-07-2025</a:t>
            </a:fld>
            <a:endParaRPr lang="en-IN"/>
          </a:p>
        </p:txBody>
      </p:sp>
      <p:sp>
        <p:nvSpPr>
          <p:cNvPr id="3" name="Footer Placeholder 2">
            <a:extLst>
              <a:ext uri="{FF2B5EF4-FFF2-40B4-BE49-F238E27FC236}">
                <a16:creationId xmlns:a16="http://schemas.microsoft.com/office/drawing/2014/main" id="{51DBCF6C-8C02-A6DE-194A-096DEEFC43A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9FE78A7-6638-DB64-5CFA-449533D5B3A8}"/>
              </a:ext>
            </a:extLst>
          </p:cNvPr>
          <p:cNvSpPr>
            <a:spLocks noGrp="1"/>
          </p:cNvSpPr>
          <p:nvPr>
            <p:ph type="sldNum" sz="quarter" idx="12"/>
          </p:nvPr>
        </p:nvSpPr>
        <p:spPr/>
        <p:txBody>
          <a:bodyPr/>
          <a:lstStyle/>
          <a:p>
            <a:fld id="{9D57F5EC-C255-4776-A0BA-ABB149D75F47}" type="slidenum">
              <a:rPr lang="en-IN" smtClean="0"/>
              <a:t>‹#›</a:t>
            </a:fld>
            <a:endParaRPr lang="en-IN"/>
          </a:p>
        </p:txBody>
      </p:sp>
    </p:spTree>
    <p:extLst>
      <p:ext uri="{BB962C8B-B14F-4D97-AF65-F5344CB8AC3E}">
        <p14:creationId xmlns:p14="http://schemas.microsoft.com/office/powerpoint/2010/main" val="3747579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A33DA-6A8A-7676-40CF-7412DB797B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A326E74-5A20-0555-B8BD-32753957FE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B7956AC-2509-ED56-57DC-485DA445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9FF0F3-6B7D-BACC-E148-44D4D4C794B2}"/>
              </a:ext>
            </a:extLst>
          </p:cNvPr>
          <p:cNvSpPr>
            <a:spLocks noGrp="1"/>
          </p:cNvSpPr>
          <p:nvPr>
            <p:ph type="dt" sz="half" idx="10"/>
          </p:nvPr>
        </p:nvSpPr>
        <p:spPr/>
        <p:txBody>
          <a:bodyPr/>
          <a:lstStyle/>
          <a:p>
            <a:fld id="{621A2136-CCB1-48C2-BC9A-33B7B1CA3AE3}" type="datetimeFigureOut">
              <a:rPr lang="en-IN" smtClean="0"/>
              <a:t>23-07-2025</a:t>
            </a:fld>
            <a:endParaRPr lang="en-IN"/>
          </a:p>
        </p:txBody>
      </p:sp>
      <p:sp>
        <p:nvSpPr>
          <p:cNvPr id="6" name="Footer Placeholder 5">
            <a:extLst>
              <a:ext uri="{FF2B5EF4-FFF2-40B4-BE49-F238E27FC236}">
                <a16:creationId xmlns:a16="http://schemas.microsoft.com/office/drawing/2014/main" id="{07776EE8-C578-9403-1982-94019592554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F9EFA5-4E73-9508-EDE1-AA681CD7308B}"/>
              </a:ext>
            </a:extLst>
          </p:cNvPr>
          <p:cNvSpPr>
            <a:spLocks noGrp="1"/>
          </p:cNvSpPr>
          <p:nvPr>
            <p:ph type="sldNum" sz="quarter" idx="12"/>
          </p:nvPr>
        </p:nvSpPr>
        <p:spPr/>
        <p:txBody>
          <a:bodyPr/>
          <a:lstStyle/>
          <a:p>
            <a:fld id="{9D57F5EC-C255-4776-A0BA-ABB149D75F47}" type="slidenum">
              <a:rPr lang="en-IN" smtClean="0"/>
              <a:t>‹#›</a:t>
            </a:fld>
            <a:endParaRPr lang="en-IN"/>
          </a:p>
        </p:txBody>
      </p:sp>
    </p:spTree>
    <p:extLst>
      <p:ext uri="{BB962C8B-B14F-4D97-AF65-F5344CB8AC3E}">
        <p14:creationId xmlns:p14="http://schemas.microsoft.com/office/powerpoint/2010/main" val="1462931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AAE84-9CAF-13E6-8D19-EB6723C169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0DED688-EBBC-1199-8006-2F80FD1B36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BEC74DA-D7A0-B6C4-AFC6-691935A967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4EDF21-C6E8-55B2-3F69-6FBBE32BC123}"/>
              </a:ext>
            </a:extLst>
          </p:cNvPr>
          <p:cNvSpPr>
            <a:spLocks noGrp="1"/>
          </p:cNvSpPr>
          <p:nvPr>
            <p:ph type="dt" sz="half" idx="10"/>
          </p:nvPr>
        </p:nvSpPr>
        <p:spPr/>
        <p:txBody>
          <a:bodyPr/>
          <a:lstStyle/>
          <a:p>
            <a:fld id="{621A2136-CCB1-48C2-BC9A-33B7B1CA3AE3}" type="datetimeFigureOut">
              <a:rPr lang="en-IN" smtClean="0"/>
              <a:t>23-07-2025</a:t>
            </a:fld>
            <a:endParaRPr lang="en-IN"/>
          </a:p>
        </p:txBody>
      </p:sp>
      <p:sp>
        <p:nvSpPr>
          <p:cNvPr id="6" name="Footer Placeholder 5">
            <a:extLst>
              <a:ext uri="{FF2B5EF4-FFF2-40B4-BE49-F238E27FC236}">
                <a16:creationId xmlns:a16="http://schemas.microsoft.com/office/drawing/2014/main" id="{C689A8A3-35A0-15E7-A0C1-BAC7C91C508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23E2A6-A12E-222D-7A73-FBCA8D382B2C}"/>
              </a:ext>
            </a:extLst>
          </p:cNvPr>
          <p:cNvSpPr>
            <a:spLocks noGrp="1"/>
          </p:cNvSpPr>
          <p:nvPr>
            <p:ph type="sldNum" sz="quarter" idx="12"/>
          </p:nvPr>
        </p:nvSpPr>
        <p:spPr/>
        <p:txBody>
          <a:bodyPr/>
          <a:lstStyle/>
          <a:p>
            <a:fld id="{9D57F5EC-C255-4776-A0BA-ABB149D75F47}" type="slidenum">
              <a:rPr lang="en-IN" smtClean="0"/>
              <a:t>‹#›</a:t>
            </a:fld>
            <a:endParaRPr lang="en-IN"/>
          </a:p>
        </p:txBody>
      </p:sp>
    </p:spTree>
    <p:extLst>
      <p:ext uri="{BB962C8B-B14F-4D97-AF65-F5344CB8AC3E}">
        <p14:creationId xmlns:p14="http://schemas.microsoft.com/office/powerpoint/2010/main" val="1913711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53490-E98C-3889-FC78-99FB293B29D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25151C-E777-BF94-CD57-F38B0C5C1F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53A324-F7F2-9794-75D4-4696AAFAB5C1}"/>
              </a:ext>
            </a:extLst>
          </p:cNvPr>
          <p:cNvSpPr>
            <a:spLocks noGrp="1"/>
          </p:cNvSpPr>
          <p:nvPr>
            <p:ph type="dt" sz="half" idx="10"/>
          </p:nvPr>
        </p:nvSpPr>
        <p:spPr/>
        <p:txBody>
          <a:bodyPr/>
          <a:lstStyle/>
          <a:p>
            <a:fld id="{621A2136-CCB1-48C2-BC9A-33B7B1CA3AE3}" type="datetimeFigureOut">
              <a:rPr lang="en-IN" smtClean="0"/>
              <a:t>23-07-2025</a:t>
            </a:fld>
            <a:endParaRPr lang="en-IN"/>
          </a:p>
        </p:txBody>
      </p:sp>
      <p:sp>
        <p:nvSpPr>
          <p:cNvPr id="5" name="Footer Placeholder 4">
            <a:extLst>
              <a:ext uri="{FF2B5EF4-FFF2-40B4-BE49-F238E27FC236}">
                <a16:creationId xmlns:a16="http://schemas.microsoft.com/office/drawing/2014/main" id="{A2464F1E-E303-01D2-C532-CE3AF11DF5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89A96E-8B93-C87D-1384-F3BF43CE9B9F}"/>
              </a:ext>
            </a:extLst>
          </p:cNvPr>
          <p:cNvSpPr>
            <a:spLocks noGrp="1"/>
          </p:cNvSpPr>
          <p:nvPr>
            <p:ph type="sldNum" sz="quarter" idx="12"/>
          </p:nvPr>
        </p:nvSpPr>
        <p:spPr/>
        <p:txBody>
          <a:bodyPr/>
          <a:lstStyle/>
          <a:p>
            <a:fld id="{9D57F5EC-C255-4776-A0BA-ABB149D75F47}" type="slidenum">
              <a:rPr lang="en-IN" smtClean="0"/>
              <a:t>‹#›</a:t>
            </a:fld>
            <a:endParaRPr lang="en-IN"/>
          </a:p>
        </p:txBody>
      </p:sp>
    </p:spTree>
    <p:extLst>
      <p:ext uri="{BB962C8B-B14F-4D97-AF65-F5344CB8AC3E}">
        <p14:creationId xmlns:p14="http://schemas.microsoft.com/office/powerpoint/2010/main" val="312204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DC8AF6-FC65-C99A-36C5-2ECE9B3F596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3745A0-D5E0-A045-C3FB-F2188BC3A7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F3DD26-1A41-2D80-7CFB-67900905F002}"/>
              </a:ext>
            </a:extLst>
          </p:cNvPr>
          <p:cNvSpPr>
            <a:spLocks noGrp="1"/>
          </p:cNvSpPr>
          <p:nvPr>
            <p:ph type="dt" sz="half" idx="10"/>
          </p:nvPr>
        </p:nvSpPr>
        <p:spPr/>
        <p:txBody>
          <a:bodyPr/>
          <a:lstStyle/>
          <a:p>
            <a:fld id="{621A2136-CCB1-48C2-BC9A-33B7B1CA3AE3}" type="datetimeFigureOut">
              <a:rPr lang="en-IN" smtClean="0"/>
              <a:t>23-07-2025</a:t>
            </a:fld>
            <a:endParaRPr lang="en-IN"/>
          </a:p>
        </p:txBody>
      </p:sp>
      <p:sp>
        <p:nvSpPr>
          <p:cNvPr id="5" name="Footer Placeholder 4">
            <a:extLst>
              <a:ext uri="{FF2B5EF4-FFF2-40B4-BE49-F238E27FC236}">
                <a16:creationId xmlns:a16="http://schemas.microsoft.com/office/drawing/2014/main" id="{B430C14C-CA26-0AB0-96C1-F20544C459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19D334-8472-C80F-CF81-DD53CF70F68A}"/>
              </a:ext>
            </a:extLst>
          </p:cNvPr>
          <p:cNvSpPr>
            <a:spLocks noGrp="1"/>
          </p:cNvSpPr>
          <p:nvPr>
            <p:ph type="sldNum" sz="quarter" idx="12"/>
          </p:nvPr>
        </p:nvSpPr>
        <p:spPr/>
        <p:txBody>
          <a:bodyPr/>
          <a:lstStyle/>
          <a:p>
            <a:fld id="{9D57F5EC-C255-4776-A0BA-ABB149D75F47}" type="slidenum">
              <a:rPr lang="en-IN" smtClean="0"/>
              <a:t>‹#›</a:t>
            </a:fld>
            <a:endParaRPr lang="en-IN"/>
          </a:p>
        </p:txBody>
      </p:sp>
    </p:spTree>
    <p:extLst>
      <p:ext uri="{BB962C8B-B14F-4D97-AF65-F5344CB8AC3E}">
        <p14:creationId xmlns:p14="http://schemas.microsoft.com/office/powerpoint/2010/main" val="17967752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2380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CCFF">
            <a:alpha val="33000"/>
          </a:srgb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D35911-5DBE-A96F-CB47-60EC85849F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819F2D-F7C7-52FB-8DD4-90F105853C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9521AB-69B3-4DD0-E459-4E58EEAB15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1A2136-CCB1-48C2-BC9A-33B7B1CA3AE3}" type="datetimeFigureOut">
              <a:rPr lang="en-IN" smtClean="0"/>
              <a:t>23-07-2025</a:t>
            </a:fld>
            <a:endParaRPr lang="en-IN"/>
          </a:p>
        </p:txBody>
      </p:sp>
      <p:sp>
        <p:nvSpPr>
          <p:cNvPr id="5" name="Footer Placeholder 4">
            <a:extLst>
              <a:ext uri="{FF2B5EF4-FFF2-40B4-BE49-F238E27FC236}">
                <a16:creationId xmlns:a16="http://schemas.microsoft.com/office/drawing/2014/main" id="{3A819B7D-DC89-DFB5-B180-5E89D0E415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774EAD3-B6B9-30CB-1226-9B948257DB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57F5EC-C255-4776-A0BA-ABB149D75F47}" type="slidenum">
              <a:rPr lang="en-IN" smtClean="0"/>
              <a:t>‹#›</a:t>
            </a:fld>
            <a:endParaRPr lang="en-IN"/>
          </a:p>
        </p:txBody>
      </p:sp>
    </p:spTree>
    <p:extLst>
      <p:ext uri="{BB962C8B-B14F-4D97-AF65-F5344CB8AC3E}">
        <p14:creationId xmlns:p14="http://schemas.microsoft.com/office/powerpoint/2010/main" val="7491446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CCFF">
            <a:alpha val="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36C2-648B-EB40-1E2A-5747D1329273}"/>
              </a:ext>
            </a:extLst>
          </p:cNvPr>
          <p:cNvSpPr txBox="1">
            <a:spLocks/>
          </p:cNvSpPr>
          <p:nvPr/>
        </p:nvSpPr>
        <p:spPr>
          <a:xfrm>
            <a:off x="582376" y="1222647"/>
            <a:ext cx="7951733" cy="1317171"/>
          </a:xfrm>
          <a:prstGeom prst="rect">
            <a:avLst/>
          </a:prstGeom>
        </p:spPr>
        <p:txBody>
          <a:bodyPr lIns="76182" tIns="38092" rIns="76182" bIns="38092" anchor="ctr">
            <a:normAutofit fontScale="900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700" b="1" dirty="0">
                <a:solidFill>
                  <a:prstClr val="black"/>
                </a:solidFill>
                <a:latin typeface="Times New Roman" panose="02020603050405020304" pitchFamily="18" charset="0"/>
                <a:ea typeface="Batang" panose="02030600000101010101" pitchFamily="18" charset="-127"/>
                <a:cs typeface="Times New Roman" panose="02020603050405020304" pitchFamily="18" charset="0"/>
              </a:rPr>
              <a:t>                                                                     </a:t>
            </a:r>
            <a:r>
              <a:rPr lang="en-US" sz="1700" b="1" dirty="0">
                <a:solidFill>
                  <a:prstClr val="black"/>
                </a:solidFill>
              </a:rPr>
              <a:t>PUNE DISTRICT EDUCATION ASSOCIATION'S                                                                                                                </a:t>
            </a:r>
            <a:br>
              <a:rPr lang="en-US" sz="1700" b="1" dirty="0">
                <a:solidFill>
                  <a:prstClr val="black"/>
                </a:solidFill>
              </a:rPr>
            </a:br>
            <a:r>
              <a:rPr lang="en-US" sz="1700" b="1" dirty="0">
                <a:solidFill>
                  <a:prstClr val="black"/>
                </a:solidFill>
              </a:rPr>
              <a:t>                                                                              COLLEGE OF ENGINEERING</a:t>
            </a:r>
            <a:br>
              <a:rPr lang="en-US" sz="1700" b="1" dirty="0">
                <a:solidFill>
                  <a:prstClr val="black"/>
                </a:solidFill>
              </a:rPr>
            </a:br>
            <a:r>
              <a:rPr lang="en-US" sz="1500" b="1" dirty="0">
                <a:solidFill>
                  <a:prstClr val="black"/>
                </a:solidFill>
              </a:rPr>
              <a:t>			              </a:t>
            </a:r>
            <a:r>
              <a:rPr lang="en-US" sz="1500" dirty="0">
                <a:solidFill>
                  <a:prstClr val="black"/>
                </a:solidFill>
                <a:latin typeface="Times New Roman" panose="02020603050405020304" pitchFamily="18" charset="0"/>
                <a:cs typeface="Times New Roman" panose="02020603050405020304" pitchFamily="18" charset="0"/>
              </a:rPr>
              <a:t>Manjari (BK), Pune - 412307 (Maharashtra) India</a:t>
            </a:r>
            <a:br>
              <a:rPr lang="en-US" sz="1500" dirty="0">
                <a:solidFill>
                  <a:prstClr val="black"/>
                </a:solidFill>
                <a:latin typeface="Times New Roman" panose="02020603050405020304" pitchFamily="18" charset="0"/>
                <a:cs typeface="Times New Roman" panose="02020603050405020304" pitchFamily="18" charset="0"/>
              </a:rPr>
            </a:br>
            <a:r>
              <a:rPr lang="en-US" sz="1500" dirty="0">
                <a:solidFill>
                  <a:prstClr val="black"/>
                </a:solidFill>
                <a:latin typeface="Times New Roman" panose="02020603050405020304" pitchFamily="18" charset="0"/>
                <a:cs typeface="Times New Roman" panose="02020603050405020304" pitchFamily="18" charset="0"/>
              </a:rPr>
              <a:t>	                                                       **NAAC Accredited**</a:t>
            </a:r>
            <a:br>
              <a:rPr lang="en-US" sz="1500" dirty="0">
                <a:solidFill>
                  <a:prstClr val="black"/>
                </a:solidFill>
                <a:latin typeface="Times New Roman" panose="02020603050405020304" pitchFamily="18" charset="0"/>
                <a:cs typeface="Times New Roman" panose="02020603050405020304" pitchFamily="18" charset="0"/>
              </a:rPr>
            </a:br>
            <a:r>
              <a:rPr lang="en-US" sz="1500" dirty="0">
                <a:solidFill>
                  <a:prstClr val="black"/>
                </a:solidFill>
                <a:latin typeface="Times New Roman" panose="02020603050405020304" pitchFamily="18" charset="0"/>
                <a:ea typeface="Batang" panose="02030600000101010101" pitchFamily="18" charset="-127"/>
                <a:cs typeface="Times New Roman" panose="02020603050405020304" pitchFamily="18" charset="0"/>
              </a:rPr>
              <a:t>                              </a:t>
            </a:r>
            <a:br>
              <a:rPr lang="en-IN" sz="1800" dirty="0">
                <a:solidFill>
                  <a:prstClr val="black"/>
                </a:solidFill>
                <a:latin typeface="Times New Roman" panose="02020603050405020304" pitchFamily="18" charset="0"/>
                <a:ea typeface="Batang" panose="02030600000101010101" pitchFamily="18" charset="-127"/>
              </a:rPr>
            </a:br>
            <a:r>
              <a:rPr lang="en-US" sz="1800" b="1" dirty="0">
                <a:solidFill>
                  <a:prstClr val="black"/>
                </a:solidFill>
                <a:latin typeface="Times New Roman" panose="02020603050405020304" pitchFamily="18" charset="0"/>
                <a:ea typeface="Batang" panose="02030600000101010101" pitchFamily="18" charset="-127"/>
                <a:cs typeface="Times New Roman" panose="02020603050405020304" pitchFamily="18" charset="0"/>
              </a:rPr>
              <a:t>            </a:t>
            </a:r>
            <a:endParaRPr lang="en-US" sz="2700" dirty="0">
              <a:solidFill>
                <a:prstClr val="black"/>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F272B2D-4A56-BA9D-D20E-072DC6060965}"/>
              </a:ext>
            </a:extLst>
          </p:cNvPr>
          <p:cNvSpPr txBox="1">
            <a:spLocks/>
          </p:cNvSpPr>
          <p:nvPr/>
        </p:nvSpPr>
        <p:spPr>
          <a:xfrm>
            <a:off x="1193960" y="510238"/>
            <a:ext cx="9492754" cy="6717309"/>
          </a:xfrm>
          <a:prstGeom prst="rect">
            <a:avLst/>
          </a:prstGeom>
        </p:spPr>
        <p:txBody>
          <a:bodyPr lIns="76182" tIns="38092" rIns="76182" bIns="38092" anchor="ct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18998" lvl="2" indent="0">
              <a:buNone/>
            </a:pPr>
            <a:r>
              <a:rPr lang="en-US" sz="2700" dirty="0">
                <a:solidFill>
                  <a:prstClr val="black">
                    <a:lumMod val="95000"/>
                    <a:lumOff val="5000"/>
                  </a:prstClr>
                </a:solidFill>
                <a:latin typeface="Times New Roman" panose="02020603050405020304" pitchFamily="18" charset="0"/>
                <a:cs typeface="Times New Roman" panose="02020603050405020304" pitchFamily="18" charset="0"/>
              </a:rPr>
              <a:t>				</a:t>
            </a:r>
          </a:p>
          <a:p>
            <a:pPr marL="418998" lvl="2" indent="0">
              <a:buNone/>
            </a:pPr>
            <a:r>
              <a:rPr lang="en-US" sz="2700" dirty="0">
                <a:solidFill>
                  <a:prstClr val="black">
                    <a:lumMod val="95000"/>
                    <a:lumOff val="5000"/>
                  </a:prstClr>
                </a:solidFill>
                <a:latin typeface="Times New Roman" panose="02020603050405020304" pitchFamily="18" charset="0"/>
                <a:cs typeface="Times New Roman" panose="02020603050405020304" pitchFamily="18" charset="0"/>
              </a:rPr>
              <a:t>				</a:t>
            </a:r>
          </a:p>
          <a:p>
            <a:pPr marL="418998" lvl="2" indent="0">
              <a:buNone/>
            </a:pPr>
            <a:r>
              <a:rPr lang="en-US" sz="2700" dirty="0">
                <a:solidFill>
                  <a:prstClr val="black">
                    <a:lumMod val="95000"/>
                    <a:lumOff val="5000"/>
                  </a:prstClr>
                </a:solidFill>
                <a:latin typeface="Times New Roman" panose="02020603050405020304" pitchFamily="18" charset="0"/>
                <a:cs typeface="Times New Roman" panose="02020603050405020304" pitchFamily="18" charset="0"/>
              </a:rPr>
              <a:t>				    </a:t>
            </a:r>
            <a:r>
              <a:rPr lang="en-US" sz="2300" dirty="0">
                <a:solidFill>
                  <a:prstClr val="black">
                    <a:lumMod val="95000"/>
                    <a:lumOff val="5000"/>
                  </a:prstClr>
                </a:solidFill>
                <a:latin typeface="Times New Roman" panose="02020603050405020304" pitchFamily="18" charset="0"/>
                <a:cs typeface="Times New Roman" panose="02020603050405020304" pitchFamily="18" charset="0"/>
              </a:rPr>
              <a:t>Presentation For</a:t>
            </a:r>
            <a:endParaRPr lang="en-US" sz="2700" dirty="0">
              <a:solidFill>
                <a:prstClr val="black">
                  <a:lumMod val="95000"/>
                  <a:lumOff val="5000"/>
                </a:prstClr>
              </a:solidFill>
              <a:latin typeface="Times New Roman" panose="02020603050405020304" pitchFamily="18" charset="0"/>
              <a:cs typeface="Times New Roman" panose="02020603050405020304" pitchFamily="18" charset="0"/>
            </a:endParaRPr>
          </a:p>
          <a:p>
            <a:pPr marL="418998" lvl="2" indent="0">
              <a:buNone/>
            </a:pPr>
            <a:r>
              <a:rPr lang="en-US" sz="2700" dirty="0">
                <a:solidFill>
                  <a:prstClr val="black">
                    <a:lumMod val="95000"/>
                    <a:lumOff val="5000"/>
                  </a:prstClr>
                </a:solidFill>
                <a:latin typeface="Times New Roman" panose="02020603050405020304" pitchFamily="18" charset="0"/>
                <a:cs typeface="Times New Roman" panose="02020603050405020304" pitchFamily="18" charset="0"/>
              </a:rPr>
              <a:t>		               Project Finalization(Synopsis)</a:t>
            </a:r>
            <a:endParaRPr lang="en-US" sz="2700" b="1" dirty="0">
              <a:solidFill>
                <a:prstClr val="black">
                  <a:lumMod val="95000"/>
                  <a:lumOff val="5000"/>
                </a:prstClr>
              </a:solidFill>
              <a:latin typeface="Times New Roman" panose="02020603050405020304" pitchFamily="18" charset="0"/>
              <a:cs typeface="Times New Roman" panose="02020603050405020304" pitchFamily="18" charset="0"/>
            </a:endParaRPr>
          </a:p>
          <a:p>
            <a:pPr marL="418998" lvl="2" indent="0">
              <a:buNone/>
            </a:pPr>
            <a:r>
              <a:rPr lang="en-US" sz="2700" dirty="0">
                <a:solidFill>
                  <a:prstClr val="black">
                    <a:lumMod val="95000"/>
                    <a:lumOff val="5000"/>
                  </a:prstClr>
                </a:solidFill>
                <a:latin typeface="Times New Roman" panose="02020603050405020304" pitchFamily="18" charset="0"/>
                <a:cs typeface="Times New Roman" panose="02020603050405020304" pitchFamily="18" charset="0"/>
              </a:rPr>
              <a:t>                              </a:t>
            </a:r>
            <a:endParaRPr lang="en-US" sz="2300" dirty="0">
              <a:solidFill>
                <a:prstClr val="black">
                  <a:lumMod val="95000"/>
                  <a:lumOff val="5000"/>
                </a:prstClr>
              </a:solidFill>
              <a:latin typeface="Times New Roman" panose="02020603050405020304" pitchFamily="18" charset="0"/>
              <a:cs typeface="Times New Roman" panose="02020603050405020304" pitchFamily="18" charset="0"/>
            </a:endParaRPr>
          </a:p>
          <a:p>
            <a:pPr marL="418998" lvl="2" indent="0">
              <a:buNone/>
            </a:pPr>
            <a:r>
              <a:rPr lang="en-US" dirty="0">
                <a:solidFill>
                  <a:prstClr val="black">
                    <a:lumMod val="95000"/>
                    <a:lumOff val="5000"/>
                  </a:prstClr>
                </a:solidFill>
                <a:latin typeface="Times New Roman" panose="02020603050405020304" pitchFamily="18" charset="0"/>
                <a:cs typeface="Times New Roman" panose="02020603050405020304" pitchFamily="18" charset="0"/>
              </a:rPr>
              <a:t>			     	     Project By:-</a:t>
            </a:r>
          </a:p>
          <a:p>
            <a:pPr marL="418998" lvl="2" indent="0">
              <a:buNone/>
            </a:pPr>
            <a:r>
              <a:rPr lang="en-US" sz="2300" dirty="0">
                <a:solidFill>
                  <a:prstClr val="black">
                    <a:lumMod val="95000"/>
                    <a:lumOff val="5000"/>
                  </a:prstClr>
                </a:solidFill>
                <a:latin typeface="Times New Roman" panose="02020603050405020304" pitchFamily="18" charset="0"/>
                <a:cs typeface="Times New Roman" panose="02020603050405020304" pitchFamily="18" charset="0"/>
              </a:rPr>
              <a:t>		                           1.Nikhil </a:t>
            </a:r>
            <a:r>
              <a:rPr lang="en-US" sz="2300" dirty="0" err="1">
                <a:solidFill>
                  <a:prstClr val="black">
                    <a:lumMod val="95000"/>
                    <a:lumOff val="5000"/>
                  </a:prstClr>
                </a:solidFill>
                <a:latin typeface="Times New Roman" panose="02020603050405020304" pitchFamily="18" charset="0"/>
                <a:cs typeface="Times New Roman" panose="02020603050405020304" pitchFamily="18" charset="0"/>
              </a:rPr>
              <a:t>Shelke</a:t>
            </a:r>
            <a:endParaRPr lang="en-US" sz="2300" dirty="0">
              <a:solidFill>
                <a:prstClr val="black">
                  <a:lumMod val="95000"/>
                  <a:lumOff val="5000"/>
                </a:prstClr>
              </a:solidFill>
              <a:latin typeface="Times New Roman" panose="02020603050405020304" pitchFamily="18" charset="0"/>
              <a:cs typeface="Times New Roman" panose="02020603050405020304" pitchFamily="18" charset="0"/>
            </a:endParaRPr>
          </a:p>
          <a:p>
            <a:pPr marL="418998" lvl="2" indent="0">
              <a:buNone/>
            </a:pPr>
            <a:r>
              <a:rPr lang="en-US" sz="2300" dirty="0">
                <a:solidFill>
                  <a:prstClr val="black">
                    <a:lumMod val="95000"/>
                    <a:lumOff val="5000"/>
                  </a:prstClr>
                </a:solidFill>
                <a:latin typeface="Times New Roman" panose="02020603050405020304" pitchFamily="18" charset="0"/>
                <a:cs typeface="Times New Roman" panose="02020603050405020304" pitchFamily="18" charset="0"/>
              </a:rPr>
              <a:t>		                           2.Rohan </a:t>
            </a:r>
            <a:r>
              <a:rPr lang="en-US" sz="2300" dirty="0" err="1">
                <a:solidFill>
                  <a:prstClr val="black">
                    <a:lumMod val="95000"/>
                    <a:lumOff val="5000"/>
                  </a:prstClr>
                </a:solidFill>
                <a:latin typeface="Times New Roman" panose="02020603050405020304" pitchFamily="18" charset="0"/>
                <a:cs typeface="Times New Roman" panose="02020603050405020304" pitchFamily="18" charset="0"/>
              </a:rPr>
              <a:t>Pawar</a:t>
            </a:r>
            <a:endParaRPr lang="en-US" sz="2300" dirty="0">
              <a:solidFill>
                <a:prstClr val="black">
                  <a:lumMod val="95000"/>
                  <a:lumOff val="5000"/>
                </a:prstClr>
              </a:solidFill>
              <a:latin typeface="Times New Roman" panose="02020603050405020304" pitchFamily="18" charset="0"/>
              <a:cs typeface="Times New Roman" panose="02020603050405020304" pitchFamily="18" charset="0"/>
            </a:endParaRPr>
          </a:p>
          <a:p>
            <a:pPr marL="418998" lvl="2" indent="0">
              <a:buNone/>
            </a:pPr>
            <a:r>
              <a:rPr lang="en-US" sz="2300" dirty="0">
                <a:solidFill>
                  <a:prstClr val="black">
                    <a:lumMod val="95000"/>
                    <a:lumOff val="5000"/>
                  </a:prstClr>
                </a:solidFill>
                <a:latin typeface="Times New Roman" panose="02020603050405020304" pitchFamily="18" charset="0"/>
                <a:cs typeface="Times New Roman" panose="02020603050405020304" pitchFamily="18" charset="0"/>
              </a:rPr>
              <a:t>			              3.Manas </a:t>
            </a:r>
            <a:r>
              <a:rPr lang="en-US" sz="2300" dirty="0" err="1">
                <a:solidFill>
                  <a:prstClr val="black">
                    <a:lumMod val="95000"/>
                    <a:lumOff val="5000"/>
                  </a:prstClr>
                </a:solidFill>
                <a:latin typeface="Times New Roman" panose="02020603050405020304" pitchFamily="18" charset="0"/>
                <a:cs typeface="Times New Roman" panose="02020603050405020304" pitchFamily="18" charset="0"/>
              </a:rPr>
              <a:t>Torane</a:t>
            </a:r>
            <a:endParaRPr lang="en-US" sz="2300" dirty="0">
              <a:solidFill>
                <a:prstClr val="black">
                  <a:lumMod val="95000"/>
                  <a:lumOff val="5000"/>
                </a:prstClr>
              </a:solidFill>
              <a:latin typeface="Times New Roman" panose="02020603050405020304" pitchFamily="18" charset="0"/>
              <a:cs typeface="Times New Roman" panose="02020603050405020304" pitchFamily="18" charset="0"/>
            </a:endParaRPr>
          </a:p>
          <a:p>
            <a:pPr marL="418998" lvl="2" indent="0">
              <a:buNone/>
            </a:pPr>
            <a:r>
              <a:rPr lang="en-US" sz="2300" dirty="0">
                <a:solidFill>
                  <a:prstClr val="black">
                    <a:lumMod val="95000"/>
                    <a:lumOff val="5000"/>
                  </a:prstClr>
                </a:solidFill>
                <a:latin typeface="Times New Roman" panose="02020603050405020304" pitchFamily="18" charset="0"/>
                <a:cs typeface="Times New Roman" panose="02020603050405020304" pitchFamily="18" charset="0"/>
              </a:rPr>
              <a:t>		            	              4.Pranay </a:t>
            </a:r>
            <a:r>
              <a:rPr lang="en-US" sz="2300" dirty="0" err="1">
                <a:solidFill>
                  <a:prstClr val="black">
                    <a:lumMod val="95000"/>
                    <a:lumOff val="5000"/>
                  </a:prstClr>
                </a:solidFill>
                <a:latin typeface="Times New Roman" panose="02020603050405020304" pitchFamily="18" charset="0"/>
                <a:cs typeface="Times New Roman" panose="02020603050405020304" pitchFamily="18" charset="0"/>
              </a:rPr>
              <a:t>Satpute</a:t>
            </a:r>
            <a:endParaRPr lang="en-US" sz="2300" dirty="0">
              <a:solidFill>
                <a:prstClr val="black">
                  <a:lumMod val="95000"/>
                  <a:lumOff val="5000"/>
                </a:prstClr>
              </a:solidFill>
              <a:latin typeface="Times New Roman" panose="02020603050405020304" pitchFamily="18" charset="0"/>
              <a:cs typeface="Times New Roman" panose="02020603050405020304" pitchFamily="18" charset="0"/>
            </a:endParaRPr>
          </a:p>
        </p:txBody>
      </p:sp>
      <p:pic>
        <p:nvPicPr>
          <p:cNvPr id="4" name="Picture 2" descr="University Emblem : Savitribai Phule Pune University offers undergraduate,  postgraduate and doctoral programs in sciences, languages, social sciences,  law, management and other interdisciplinary programs.">
            <a:extLst>
              <a:ext uri="{FF2B5EF4-FFF2-40B4-BE49-F238E27FC236}">
                <a16:creationId xmlns:a16="http://schemas.microsoft.com/office/drawing/2014/main" id="{671C2ED7-2D42-E8B0-228C-2D87823CDF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9623" y="905499"/>
            <a:ext cx="2609775" cy="189572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ogo">
            <a:extLst>
              <a:ext uri="{FF2B5EF4-FFF2-40B4-BE49-F238E27FC236}">
                <a16:creationId xmlns:a16="http://schemas.microsoft.com/office/drawing/2014/main" id="{A125A996-A477-49C0-9C65-475BF2C5FA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90910" y="905499"/>
            <a:ext cx="1951467" cy="1951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9732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CCFF">
            <a:alpha val="24000"/>
          </a:srgbClr>
        </a:solidFill>
        <a:effectLst/>
      </p:bgPr>
    </p:bg>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03A1C47-5ACC-2387-775B-5ECB1CA8D573}"/>
              </a:ext>
            </a:extLst>
          </p:cNvPr>
          <p:cNvSpPr>
            <a:spLocks noGrp="1" noChangeArrowheads="1"/>
          </p:cNvSpPr>
          <p:nvPr>
            <p:ph type="subTitle" idx="1"/>
          </p:nvPr>
        </p:nvSpPr>
        <p:spPr bwMode="auto">
          <a:xfrm>
            <a:off x="230124" y="738055"/>
            <a:ext cx="11731752" cy="611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eaLnBrk="0" fontAlgn="base" hangingPunct="0">
              <a:lnSpc>
                <a:spcPct val="150000"/>
              </a:lnSpc>
              <a:spcBef>
                <a:spcPct val="0"/>
              </a:spcBef>
              <a:spcAft>
                <a:spcPct val="0"/>
              </a:spcAft>
              <a:buFont typeface="Wingdings" pitchFamily="2" charset="2"/>
              <a:buChar char="q"/>
            </a:pPr>
            <a:r>
              <a:rPr lang="en-US" dirty="0">
                <a:latin typeface="Times New Roman" pitchFamily="18" charset="0"/>
                <a:cs typeface="Times New Roman" pitchFamily="18" charset="0"/>
              </a:rPr>
              <a:t>Synopsis Titles</a:t>
            </a:r>
          </a:p>
          <a:p>
            <a:pPr marL="342900" lvl="0" indent="-342900" algn="just" eaLnBrk="0" fontAlgn="base" hangingPunct="0">
              <a:lnSpc>
                <a:spcPct val="150000"/>
              </a:lnSpc>
              <a:spcBef>
                <a:spcPct val="0"/>
              </a:spcBef>
              <a:spcAft>
                <a:spcPct val="0"/>
              </a:spcAft>
              <a:buFont typeface="Wingdings" pitchFamily="2" charset="2"/>
              <a:buChar char="q"/>
            </a:pPr>
            <a:r>
              <a:rPr kumimoji="0" lang="en-US" altLang="en-US" b="0" i="0" u="none" strike="noStrike" cap="none" normalizeH="0" baseline="0" dirty="0">
                <a:ln>
                  <a:noFill/>
                </a:ln>
                <a:solidFill>
                  <a:schemeClr val="tx1"/>
                </a:solidFill>
                <a:effectLst/>
                <a:latin typeface="Times New Roman" pitchFamily="18" charset="0"/>
                <a:cs typeface="Times New Roman" pitchFamily="18" charset="0"/>
              </a:rPr>
              <a:t>Presentation of Synopsis 1:</a:t>
            </a:r>
          </a:p>
          <a:p>
            <a:pPr marL="457200" lvl="0" indent="-457200" algn="just" eaLnBrk="0" fontAlgn="base" hangingPunct="0">
              <a:lnSpc>
                <a:spcPct val="150000"/>
              </a:lnSpc>
              <a:spcBef>
                <a:spcPct val="0"/>
              </a:spcBef>
              <a:spcAft>
                <a:spcPct val="0"/>
              </a:spcAft>
              <a:buFont typeface="+mj-lt"/>
              <a:buAutoNum type="arabicPeriod"/>
            </a:pPr>
            <a:r>
              <a:rPr lang="en-US" altLang="en-US" dirty="0">
                <a:latin typeface="Times New Roman" pitchFamily="18" charset="0"/>
                <a:cs typeface="Times New Roman" pitchFamily="18" charset="0"/>
              </a:rPr>
              <a:t>Abstract</a:t>
            </a:r>
          </a:p>
          <a:p>
            <a:pPr marL="457200" lvl="0" indent="-457200" algn="just" eaLnBrk="0" fontAlgn="base" hangingPunct="0">
              <a:lnSpc>
                <a:spcPct val="150000"/>
              </a:lnSpc>
              <a:spcBef>
                <a:spcPct val="0"/>
              </a:spcBef>
              <a:spcAft>
                <a:spcPct val="0"/>
              </a:spcAft>
              <a:buFont typeface="+mj-lt"/>
              <a:buAutoNum type="arabicPeriod"/>
            </a:pPr>
            <a:r>
              <a:rPr kumimoji="0" lang="en-US" altLang="en-US" b="0" i="0" u="none" strike="noStrike" cap="none" normalizeH="0" baseline="0" dirty="0">
                <a:ln>
                  <a:noFill/>
                </a:ln>
                <a:solidFill>
                  <a:schemeClr val="tx1"/>
                </a:solidFill>
                <a:effectLst/>
                <a:latin typeface="Times New Roman" pitchFamily="18" charset="0"/>
                <a:cs typeface="Times New Roman" pitchFamily="18" charset="0"/>
              </a:rPr>
              <a:t>Aim and Objec</a:t>
            </a:r>
            <a:r>
              <a:rPr lang="en-US" altLang="en-US" dirty="0">
                <a:latin typeface="Times New Roman" pitchFamily="18" charset="0"/>
                <a:cs typeface="Times New Roman" pitchFamily="18" charset="0"/>
              </a:rPr>
              <a:t>tive</a:t>
            </a:r>
          </a:p>
          <a:p>
            <a:pPr marL="457200" lvl="0" indent="-457200" algn="just" eaLnBrk="0" fontAlgn="base" hangingPunct="0">
              <a:lnSpc>
                <a:spcPct val="150000"/>
              </a:lnSpc>
              <a:spcBef>
                <a:spcPct val="0"/>
              </a:spcBef>
              <a:spcAft>
                <a:spcPct val="0"/>
              </a:spcAft>
              <a:buFont typeface="+mj-lt"/>
              <a:buAutoNum type="arabicPeriod"/>
            </a:pPr>
            <a:r>
              <a:rPr kumimoji="0" lang="en-US" altLang="en-US" b="0" i="0" u="none" strike="noStrike" cap="none" normalizeH="0" baseline="0" dirty="0">
                <a:ln>
                  <a:noFill/>
                </a:ln>
                <a:solidFill>
                  <a:schemeClr val="tx1"/>
                </a:solidFill>
                <a:effectLst/>
                <a:latin typeface="Times New Roman" pitchFamily="18" charset="0"/>
                <a:cs typeface="Times New Roman" pitchFamily="18" charset="0"/>
              </a:rPr>
              <a:t>Challenges</a:t>
            </a:r>
          </a:p>
          <a:p>
            <a:pPr marL="457200" lvl="0" indent="-457200" algn="just" eaLnBrk="0" fontAlgn="base" hangingPunct="0">
              <a:lnSpc>
                <a:spcPct val="150000"/>
              </a:lnSpc>
              <a:spcBef>
                <a:spcPct val="0"/>
              </a:spcBef>
              <a:spcAft>
                <a:spcPct val="0"/>
              </a:spcAft>
              <a:buFont typeface="+mj-lt"/>
              <a:buAutoNum type="arabicPeriod"/>
            </a:pPr>
            <a:r>
              <a:rPr lang="en-US" altLang="en-US" dirty="0">
                <a:latin typeface="Times New Roman" pitchFamily="18" charset="0"/>
                <a:cs typeface="Times New Roman" pitchFamily="18" charset="0"/>
              </a:rPr>
              <a:t>Innovation and Future Scope</a:t>
            </a:r>
          </a:p>
          <a:p>
            <a:pPr marL="457200" lvl="0" indent="-457200" algn="just" eaLnBrk="0" fontAlgn="base" hangingPunct="0">
              <a:lnSpc>
                <a:spcPct val="150000"/>
              </a:lnSpc>
              <a:spcBef>
                <a:spcPct val="0"/>
              </a:spcBef>
              <a:spcAft>
                <a:spcPct val="0"/>
              </a:spcAft>
              <a:buFont typeface="+mj-lt"/>
              <a:buAutoNum type="arabicPeriod"/>
            </a:pPr>
            <a:r>
              <a:rPr kumimoji="0" lang="en-US" altLang="en-US" b="0" i="0" u="none" strike="noStrike" cap="none" normalizeH="0" baseline="0" dirty="0">
                <a:ln>
                  <a:noFill/>
                </a:ln>
                <a:solidFill>
                  <a:schemeClr val="tx1"/>
                </a:solidFill>
                <a:effectLst/>
                <a:latin typeface="Times New Roman" pitchFamily="18" charset="0"/>
                <a:cs typeface="Times New Roman" pitchFamily="18" charset="0"/>
              </a:rPr>
              <a:t>Use Case If</a:t>
            </a:r>
          </a:p>
          <a:p>
            <a:pPr marL="342900" indent="-342900" algn="just" eaLnBrk="0" fontAlgn="base" hangingPunct="0">
              <a:lnSpc>
                <a:spcPct val="150000"/>
              </a:lnSpc>
              <a:spcBef>
                <a:spcPct val="0"/>
              </a:spcBef>
              <a:spcAft>
                <a:spcPct val="0"/>
              </a:spcAft>
              <a:buFont typeface="Wingdings" panose="05000000000000000000" pitchFamily="2" charset="2"/>
              <a:buChar char="q"/>
            </a:pPr>
            <a:r>
              <a:rPr lang="en-US" altLang="en-US" dirty="0">
                <a:latin typeface="Times New Roman" pitchFamily="18" charset="0"/>
                <a:cs typeface="Times New Roman" pitchFamily="18" charset="0"/>
              </a:rPr>
              <a:t>Presentation of Synopsis 2:</a:t>
            </a:r>
          </a:p>
          <a:p>
            <a:pPr marL="342900" indent="-342900" algn="just" eaLnBrk="0" fontAlgn="base" hangingPunct="0">
              <a:lnSpc>
                <a:spcPct val="150000"/>
              </a:lnSpc>
              <a:spcBef>
                <a:spcPct val="0"/>
              </a:spcBef>
              <a:spcAft>
                <a:spcPct val="0"/>
              </a:spcAft>
              <a:buFont typeface="Wingdings" panose="05000000000000000000" pitchFamily="2" charset="2"/>
              <a:buChar char="q"/>
            </a:pPr>
            <a:r>
              <a:rPr lang="en-US" altLang="en-US" dirty="0">
                <a:latin typeface="Times New Roman" pitchFamily="18" charset="0"/>
                <a:cs typeface="Times New Roman" pitchFamily="18" charset="0"/>
              </a:rPr>
              <a:t>Presentation of Synopsis 3:</a:t>
            </a:r>
          </a:p>
          <a:p>
            <a:pPr marL="342900" indent="-342900" algn="just" eaLnBrk="0" fontAlgn="base" hangingPunct="0">
              <a:lnSpc>
                <a:spcPct val="150000"/>
              </a:lnSpc>
              <a:spcBef>
                <a:spcPct val="0"/>
              </a:spcBef>
              <a:spcAft>
                <a:spcPct val="0"/>
              </a:spcAft>
              <a:buFont typeface="Wingdings" panose="05000000000000000000" pitchFamily="2" charset="2"/>
              <a:buChar char="q"/>
            </a:pPr>
            <a:r>
              <a:rPr lang="en-US" altLang="en-US" dirty="0">
                <a:latin typeface="Times New Roman" pitchFamily="18" charset="0"/>
                <a:cs typeface="Times New Roman" pitchFamily="18" charset="0"/>
              </a:rPr>
              <a:t>Conclusion </a:t>
            </a:r>
          </a:p>
          <a:p>
            <a:pPr marL="342900" indent="-342900" algn="just" eaLnBrk="0" fontAlgn="base" hangingPunct="0">
              <a:lnSpc>
                <a:spcPct val="150000"/>
              </a:lnSpc>
              <a:spcBef>
                <a:spcPct val="0"/>
              </a:spcBef>
              <a:spcAft>
                <a:spcPct val="0"/>
              </a:spcAft>
              <a:buFont typeface="Wingdings" panose="05000000000000000000" pitchFamily="2" charset="2"/>
              <a:buChar char="q"/>
            </a:pPr>
            <a:r>
              <a:rPr lang="en-US" altLang="en-US" dirty="0">
                <a:latin typeface="Times New Roman" pitchFamily="18" charset="0"/>
                <a:cs typeface="Times New Roman" pitchFamily="18" charset="0"/>
              </a:rPr>
              <a:t>References</a:t>
            </a:r>
          </a:p>
        </p:txBody>
      </p:sp>
      <p:sp>
        <p:nvSpPr>
          <p:cNvPr id="3" name="TextBox 2"/>
          <p:cNvSpPr txBox="1"/>
          <p:nvPr/>
        </p:nvSpPr>
        <p:spPr>
          <a:xfrm>
            <a:off x="166254" y="138545"/>
            <a:ext cx="11731752" cy="769441"/>
          </a:xfrm>
          <a:prstGeom prst="rect">
            <a:avLst/>
          </a:prstGeom>
          <a:noFill/>
        </p:spPr>
        <p:txBody>
          <a:bodyPr wrap="square" rtlCol="0">
            <a:spAutoFit/>
          </a:bodyPr>
          <a:lstStyle/>
          <a:p>
            <a:r>
              <a:rPr lang="en-US" sz="4400" b="1" dirty="0">
                <a:latin typeface="Times New Roman" pitchFamily="18" charset="0"/>
                <a:cs typeface="Times New Roman" pitchFamily="18" charset="0"/>
              </a:rPr>
              <a:t>Index</a:t>
            </a:r>
          </a:p>
        </p:txBody>
      </p:sp>
    </p:spTree>
    <p:extLst>
      <p:ext uri="{BB962C8B-B14F-4D97-AF65-F5344CB8AC3E}">
        <p14:creationId xmlns:p14="http://schemas.microsoft.com/office/powerpoint/2010/main" val="1580045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64FB9-707F-CA21-84E6-9D7EAA990925}"/>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463D98C9-9423-0907-9943-CA0A2BDFAB35}"/>
              </a:ext>
            </a:extLst>
          </p:cNvPr>
          <p:cNvSpPr>
            <a:spLocks noGrp="1" noChangeArrowheads="1"/>
          </p:cNvSpPr>
          <p:nvPr>
            <p:ph type="subTitle" idx="1"/>
          </p:nvPr>
        </p:nvSpPr>
        <p:spPr bwMode="auto">
          <a:xfrm>
            <a:off x="231925" y="1032846"/>
            <a:ext cx="11731752"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eaLnBrk="0" fontAlgn="base" hangingPunct="0">
              <a:lnSpc>
                <a:spcPct val="100000"/>
              </a:lnSpc>
              <a:spcBef>
                <a:spcPct val="0"/>
              </a:spcBef>
              <a:spcAft>
                <a:spcPct val="0"/>
              </a:spcAft>
              <a:buFont typeface="Wingdings" pitchFamily="2" charset="2"/>
              <a:buChar char="q"/>
            </a:pPr>
            <a:r>
              <a:rPr lang="en-US" dirty="0">
                <a:latin typeface="Times New Roman" pitchFamily="18" charset="0"/>
                <a:cs typeface="Times New Roman" pitchFamily="18" charset="0"/>
              </a:rPr>
              <a:t>Agricultural yield prediction is a critical task for ensuring food security, optimizing resource allocation, and supporting policy-making in the agricultural sector.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lgn="just" eaLnBrk="0" fontAlgn="base" hangingPunct="0">
              <a:lnSpc>
                <a:spcPct val="100000"/>
              </a:lnSpc>
              <a:spcBef>
                <a:spcPct val="0"/>
              </a:spcBef>
              <a:spcAft>
                <a:spcPct val="0"/>
              </a:spcAft>
              <a:buFont typeface="Wingdings" pitchFamily="2" charset="2"/>
              <a:buChar char="q"/>
            </a:pPr>
            <a:r>
              <a:rPr lang="en-US" dirty="0">
                <a:latin typeface="Times New Roman" pitchFamily="18" charset="0"/>
                <a:cs typeface="Times New Roman" pitchFamily="18" charset="0"/>
              </a:rPr>
              <a:t>This project explores the use of machine learning techniques to accurately forecast agricultural yield based on historical and environmental</a:t>
            </a: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lgn="just" eaLnBrk="0" fontAlgn="base" hangingPunct="0">
              <a:lnSpc>
                <a:spcPct val="100000"/>
              </a:lnSpc>
              <a:spcBef>
                <a:spcPct val="0"/>
              </a:spcBef>
              <a:spcAft>
                <a:spcPct val="0"/>
              </a:spcAft>
              <a:buFont typeface="Wingdings" pitchFamily="2" charset="2"/>
              <a:buChar char="q"/>
            </a:pPr>
            <a:r>
              <a:rPr lang="en-US" dirty="0">
                <a:latin typeface="Times New Roman" pitchFamily="18" charset="0"/>
                <a:cs typeface="Times New Roman" pitchFamily="18" charset="0"/>
              </a:rPr>
              <a:t>Specifically, we focus on leveraging a variety of input features—ranging from weather conditions (temperature, precipitation) and soil quality (moisture, pH) in agriculture, to production parameters (machine efficiency, temperature, and humidity) in industrial settings.</a:t>
            </a:r>
          </a:p>
          <a:p>
            <a:pPr marL="342900" lvl="0" indent="-342900" algn="just" eaLnBrk="0" fontAlgn="base" hangingPunct="0">
              <a:lnSpc>
                <a:spcPct val="100000"/>
              </a:lnSpc>
              <a:spcBef>
                <a:spcPct val="0"/>
              </a:spcBef>
              <a:spcAft>
                <a:spcPct val="0"/>
              </a:spcAft>
              <a:buFont typeface="Wingdings" pitchFamily="2" charset="2"/>
              <a:buChar char="q"/>
            </a:pPr>
            <a:r>
              <a:rPr lang="en-US" dirty="0">
                <a:latin typeface="Times New Roman" pitchFamily="18" charset="0"/>
                <a:cs typeface="Times New Roman" pitchFamily="18" charset="0"/>
              </a:rPr>
              <a:t>The results demonstrate the potential of machine learning in enhancing yield forecasting, with key features identified as significant contributors to predictive accuracy. By incorporating these models into decision-making processes, stakeholders can make data-driven choices that optimize resource management, reduce waste, and increase overall productivity.</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29EAC21-0961-77FB-45EC-23EC3D10D01C}"/>
              </a:ext>
            </a:extLst>
          </p:cNvPr>
          <p:cNvSpPr txBox="1"/>
          <p:nvPr/>
        </p:nvSpPr>
        <p:spPr>
          <a:xfrm>
            <a:off x="166254" y="138545"/>
            <a:ext cx="2282997" cy="769441"/>
          </a:xfrm>
          <a:prstGeom prst="rect">
            <a:avLst/>
          </a:prstGeom>
          <a:noFill/>
        </p:spPr>
        <p:txBody>
          <a:bodyPr wrap="none" rtlCol="0">
            <a:spAutoFit/>
          </a:bodyPr>
          <a:lstStyle/>
          <a:p>
            <a:r>
              <a:rPr lang="en-US" sz="4400" b="1" dirty="0">
                <a:latin typeface="Times New Roman" pitchFamily="18" charset="0"/>
                <a:cs typeface="Times New Roman" pitchFamily="18" charset="0"/>
              </a:rPr>
              <a:t>Abstract</a:t>
            </a:r>
          </a:p>
        </p:txBody>
      </p:sp>
    </p:spTree>
    <p:extLst>
      <p:ext uri="{BB962C8B-B14F-4D97-AF65-F5344CB8AC3E}">
        <p14:creationId xmlns:p14="http://schemas.microsoft.com/office/powerpoint/2010/main" val="346824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B5B7B-352B-FD34-9C08-700F5A237E25}"/>
              </a:ext>
            </a:extLst>
          </p:cNvPr>
          <p:cNvSpPr>
            <a:spLocks noGrp="1"/>
          </p:cNvSpPr>
          <p:nvPr>
            <p:ph type="title"/>
          </p:nvPr>
        </p:nvSpPr>
        <p:spPr>
          <a:xfrm>
            <a:off x="0" y="0"/>
            <a:ext cx="10515600" cy="951611"/>
          </a:xfrm>
        </p:spPr>
        <p:txBody>
          <a:bodyPr>
            <a:normAutofit/>
          </a:bodyPr>
          <a:lstStyle/>
          <a:p>
            <a:r>
              <a:rPr lang="en-IN" b="1" dirty="0">
                <a:latin typeface="Times New Roman" panose="02020603050405020304" pitchFamily="18" charset="0"/>
                <a:cs typeface="Times New Roman" panose="02020603050405020304" pitchFamily="18" charset="0"/>
              </a:rPr>
              <a:t>Aim and Objectives</a:t>
            </a:r>
          </a:p>
        </p:txBody>
      </p:sp>
      <p:sp>
        <p:nvSpPr>
          <p:cNvPr id="6" name="Rectangle 3">
            <a:extLst>
              <a:ext uri="{FF2B5EF4-FFF2-40B4-BE49-F238E27FC236}">
                <a16:creationId xmlns:a16="http://schemas.microsoft.com/office/drawing/2014/main" id="{1F3B3058-4372-CBDC-C92F-10581C051BCE}"/>
              </a:ext>
            </a:extLst>
          </p:cNvPr>
          <p:cNvSpPr>
            <a:spLocks noGrp="1" noChangeArrowheads="1"/>
          </p:cNvSpPr>
          <p:nvPr>
            <p:ph idx="1"/>
          </p:nvPr>
        </p:nvSpPr>
        <p:spPr bwMode="auto">
          <a:xfrm>
            <a:off x="121971" y="1121710"/>
            <a:ext cx="1157431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00000"/>
              </a:lnSpc>
              <a:spcBef>
                <a:spcPct val="0"/>
              </a:spcBef>
              <a:spcAft>
                <a:spcPct val="0"/>
              </a:spcAft>
              <a:buNone/>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lang="en-US" altLang="en-US" sz="2400" dirty="0">
                <a:latin typeface="Times New Roman" panose="02020603050405020304" pitchFamily="18" charset="0"/>
                <a:cs typeface="Times New Roman" panose="02020603050405020304" pitchFamily="18" charset="0"/>
              </a:rPr>
              <a:t>To develop a machine learning model capable of accurately predicting future yield based on historical data and environmental variables, with the goal of optimizing resource management, improving efficiency, and supporting decision-making processes for stakeholders.</a:t>
            </a:r>
          </a:p>
          <a:p>
            <a:pPr marL="0" lvl="0" indent="0" algn="just" eaLnBrk="0" fontAlgn="base" hangingPunct="0">
              <a:lnSpc>
                <a:spcPct val="100000"/>
              </a:lnSpc>
              <a:spcBef>
                <a:spcPct val="0"/>
              </a:spcBef>
              <a:spcAft>
                <a:spcPct val="0"/>
              </a:spcAft>
              <a:buNone/>
            </a:pP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TextBox 2"/>
          <p:cNvSpPr txBox="1"/>
          <p:nvPr/>
        </p:nvSpPr>
        <p:spPr>
          <a:xfrm>
            <a:off x="110836" y="2729345"/>
            <a:ext cx="11554691" cy="3416320"/>
          </a:xfrm>
          <a:prstGeom prst="rect">
            <a:avLst/>
          </a:prstGeom>
          <a:noFill/>
        </p:spPr>
        <p:txBody>
          <a:bodyPr wrap="square" rtlCol="0">
            <a:spAutoFit/>
          </a:bodyPr>
          <a:lstStyle/>
          <a:p>
            <a:pPr algn="just"/>
            <a:r>
              <a:rPr lang="en-US" sz="2400" b="1" dirty="0" err="1">
                <a:latin typeface="Times New Roman" pitchFamily="18" charset="0"/>
                <a:cs typeface="Times New Roman" pitchFamily="18" charset="0"/>
              </a:rPr>
              <a:t>Ojectives</a:t>
            </a:r>
            <a:r>
              <a:rPr lang="en-US" sz="2400" b="1" dirty="0">
                <a:latin typeface="Times New Roman" pitchFamily="18" charset="0"/>
                <a:cs typeface="Times New Roman" pitchFamily="18" charset="0"/>
              </a:rPr>
              <a:t>:- </a:t>
            </a:r>
          </a:p>
          <a:p>
            <a:pPr marL="342900" indent="-342900" algn="just">
              <a:buAutoNum type="arabicPeriod"/>
            </a:pPr>
            <a:r>
              <a:rPr lang="en-US" sz="2400" dirty="0">
                <a:latin typeface="Times New Roman" pitchFamily="18" charset="0"/>
                <a:cs typeface="Times New Roman" pitchFamily="18" charset="0"/>
              </a:rPr>
              <a:t>Data Collection and </a:t>
            </a:r>
            <a:r>
              <a:rPr lang="en-US" sz="2400" dirty="0" err="1">
                <a:latin typeface="Times New Roman" pitchFamily="18" charset="0"/>
                <a:cs typeface="Times New Roman" pitchFamily="18" charset="0"/>
              </a:rPr>
              <a:t>Exploration:Collect</a:t>
            </a:r>
            <a:r>
              <a:rPr lang="en-US" sz="2400" dirty="0">
                <a:latin typeface="Times New Roman" pitchFamily="18" charset="0"/>
                <a:cs typeface="Times New Roman" pitchFamily="18" charset="0"/>
              </a:rPr>
              <a:t> and aggregate relevant historical data, including environmental factors (e.g., weather, soil conditions, or production parameters) and past yield records.</a:t>
            </a:r>
          </a:p>
          <a:p>
            <a:pPr marL="342900" indent="-342900" algn="just">
              <a:buFontTx/>
              <a:buAutoNum type="arabicPeriod"/>
            </a:pPr>
            <a:r>
              <a:rPr lang="en-US" sz="2400" dirty="0">
                <a:latin typeface="Times New Roman" pitchFamily="18" charset="0"/>
                <a:cs typeface="Times New Roman" pitchFamily="18" charset="0"/>
              </a:rPr>
              <a:t>Data </a:t>
            </a:r>
            <a:r>
              <a:rPr lang="en-US" sz="2400" dirty="0" err="1">
                <a:latin typeface="Times New Roman" pitchFamily="18" charset="0"/>
                <a:cs typeface="Times New Roman" pitchFamily="18" charset="0"/>
              </a:rPr>
              <a:t>Preprocessing:Clean</a:t>
            </a:r>
            <a:r>
              <a:rPr lang="en-US" sz="2400" dirty="0">
                <a:latin typeface="Times New Roman" pitchFamily="18" charset="0"/>
                <a:cs typeface="Times New Roman" pitchFamily="18" charset="0"/>
              </a:rPr>
              <a:t> the dataset by handling missing values, correcting inconsistencies, and removing outliers that may skew predictions.</a:t>
            </a:r>
          </a:p>
          <a:p>
            <a:pPr marL="342900" indent="-342900" algn="just">
              <a:buFontTx/>
              <a:buAutoNum type="arabicPeriod"/>
            </a:pPr>
            <a:r>
              <a:rPr lang="en-US" sz="2400" dirty="0">
                <a:latin typeface="Times New Roman" pitchFamily="18" charset="0"/>
                <a:cs typeface="Times New Roman" pitchFamily="18" charset="0"/>
              </a:rPr>
              <a:t>Model </a:t>
            </a:r>
            <a:r>
              <a:rPr lang="en-US" sz="2400" dirty="0" err="1">
                <a:latin typeface="Times New Roman" pitchFamily="18" charset="0"/>
                <a:cs typeface="Times New Roman" pitchFamily="18" charset="0"/>
              </a:rPr>
              <a:t>Development:Select</a:t>
            </a:r>
            <a:r>
              <a:rPr lang="en-US" sz="2400" dirty="0">
                <a:latin typeface="Times New Roman" pitchFamily="18" charset="0"/>
                <a:cs typeface="Times New Roman" pitchFamily="18" charset="0"/>
              </a:rPr>
              <a:t> and implement appropriate machine learning algorithms, such as </a:t>
            </a:r>
            <a:r>
              <a:rPr lang="en-US" sz="2400" b="1" dirty="0">
                <a:latin typeface="Times New Roman" pitchFamily="18" charset="0"/>
                <a:cs typeface="Times New Roman" pitchFamily="18" charset="0"/>
              </a:rPr>
              <a:t>Linear Regression</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Random Forest</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Gradient Boosting</a:t>
            </a:r>
            <a:r>
              <a:rPr lang="en-US" sz="2400" dirty="0">
                <a:latin typeface="Times New Roman" pitchFamily="18" charset="0"/>
                <a:cs typeface="Times New Roman" pitchFamily="18" charset="0"/>
              </a:rPr>
              <a:t>, or </a:t>
            </a:r>
            <a:r>
              <a:rPr lang="en-US" sz="2400" b="1" dirty="0" err="1">
                <a:latin typeface="Times New Roman" pitchFamily="18" charset="0"/>
                <a:cs typeface="Times New Roman" pitchFamily="18" charset="0"/>
              </a:rPr>
              <a:t>XGBoost</a:t>
            </a:r>
            <a:r>
              <a:rPr lang="en-US" sz="2400" dirty="0">
                <a:latin typeface="Times New Roman" pitchFamily="18" charset="0"/>
                <a:cs typeface="Times New Roman" pitchFamily="18" charset="0"/>
              </a:rPr>
              <a:t>, based on the problem type (regression or classification).</a:t>
            </a:r>
          </a:p>
        </p:txBody>
      </p:sp>
    </p:spTree>
    <p:extLst>
      <p:ext uri="{BB962C8B-B14F-4D97-AF65-F5344CB8AC3E}">
        <p14:creationId xmlns:p14="http://schemas.microsoft.com/office/powerpoint/2010/main" val="1894510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1F3B3058-4372-CBDC-C92F-10581C051BCE}"/>
              </a:ext>
            </a:extLst>
          </p:cNvPr>
          <p:cNvSpPr>
            <a:spLocks noGrp="1" noChangeArrowheads="1"/>
          </p:cNvSpPr>
          <p:nvPr>
            <p:ph idx="1"/>
          </p:nvPr>
        </p:nvSpPr>
        <p:spPr bwMode="auto">
          <a:xfrm>
            <a:off x="177390" y="410941"/>
            <a:ext cx="1157431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eaLnBrk="0" fontAlgn="base" hangingPunct="0">
              <a:lnSpc>
                <a:spcPct val="100000"/>
              </a:lnSpc>
              <a:spcBef>
                <a:spcPct val="0"/>
              </a:spcBef>
              <a:spcAft>
                <a:spcPct val="0"/>
              </a:spcAft>
              <a:buFont typeface="+mj-lt"/>
              <a:buAutoNum type="arabicPeriod" startAt="4"/>
            </a:pPr>
            <a:r>
              <a:rPr lang="en-US" sz="2400" dirty="0">
                <a:latin typeface="Times New Roman" pitchFamily="18" charset="0"/>
                <a:cs typeface="Times New Roman" pitchFamily="18" charset="0"/>
              </a:rPr>
              <a:t>Model Evaluation and </a:t>
            </a:r>
            <a:r>
              <a:rPr lang="en-US" sz="2400" dirty="0" err="1">
                <a:latin typeface="Times New Roman" pitchFamily="18" charset="0"/>
                <a:cs typeface="Times New Roman" pitchFamily="18" charset="0"/>
              </a:rPr>
              <a:t>Tuning:Compare</a:t>
            </a:r>
            <a:r>
              <a:rPr lang="en-US" sz="2400" dirty="0">
                <a:latin typeface="Times New Roman" pitchFamily="18" charset="0"/>
                <a:cs typeface="Times New Roman" pitchFamily="18" charset="0"/>
              </a:rPr>
              <a:t> different models and select the best-performing one, ensuring that it generalizes well to unseen data.</a:t>
            </a:r>
          </a:p>
          <a:p>
            <a:pPr marL="457200" lvl="0" indent="-457200" eaLnBrk="0" fontAlgn="base" hangingPunct="0">
              <a:lnSpc>
                <a:spcPct val="100000"/>
              </a:lnSpc>
              <a:spcBef>
                <a:spcPct val="0"/>
              </a:spcBef>
              <a:spcAft>
                <a:spcPct val="0"/>
              </a:spcAft>
              <a:buFont typeface="+mj-lt"/>
              <a:buAutoNum type="arabicPeriod" startAt="4"/>
            </a:pPr>
            <a:endParaRPr lang="en-US" sz="2400" dirty="0">
              <a:latin typeface="Times New Roman" pitchFamily="18" charset="0"/>
              <a:cs typeface="Times New Roman" pitchFamily="18" charset="0"/>
            </a:endParaRPr>
          </a:p>
          <a:p>
            <a:pPr marL="457200" lvl="0" indent="-457200" eaLnBrk="0" fontAlgn="base" hangingPunct="0">
              <a:lnSpc>
                <a:spcPct val="100000"/>
              </a:lnSpc>
              <a:spcBef>
                <a:spcPct val="0"/>
              </a:spcBef>
              <a:spcAft>
                <a:spcPct val="0"/>
              </a:spcAft>
              <a:buFont typeface="+mj-lt"/>
              <a:buAutoNum type="arabicPeriod" startAt="4"/>
            </a:pPr>
            <a:r>
              <a:rPr lang="en-US" altLang="en-US" sz="2400" dirty="0">
                <a:latin typeface="Times New Roman" panose="02020603050405020304" pitchFamily="18" charset="0"/>
                <a:cs typeface="Times New Roman" panose="02020603050405020304" pitchFamily="18" charset="0"/>
              </a:rPr>
              <a:t>Predictive </a:t>
            </a:r>
            <a:r>
              <a:rPr lang="en-US" altLang="en-US" sz="2400" dirty="0" err="1">
                <a:latin typeface="Times New Roman" panose="02020603050405020304" pitchFamily="18" charset="0"/>
                <a:cs typeface="Times New Roman" panose="02020603050405020304" pitchFamily="18" charset="0"/>
              </a:rPr>
              <a:t>Analysis:</a:t>
            </a:r>
            <a:r>
              <a:rPr lang="en-US" sz="2400" dirty="0" err="1">
                <a:latin typeface="Times New Roman" pitchFamily="18" charset="0"/>
                <a:cs typeface="Times New Roman" pitchFamily="18" charset="0"/>
              </a:rPr>
              <a:t>Use</a:t>
            </a:r>
            <a:r>
              <a:rPr lang="en-US" sz="2400" dirty="0">
                <a:latin typeface="Times New Roman" pitchFamily="18" charset="0"/>
                <a:cs typeface="Times New Roman" pitchFamily="18" charset="0"/>
              </a:rPr>
              <a:t> the trained model to make yield predictions for future data points, evaluating how well the model captures real-world variations and trends.</a:t>
            </a:r>
          </a:p>
          <a:p>
            <a:pPr marL="457200" lvl="0" indent="-457200" eaLnBrk="0" fontAlgn="base" hangingPunct="0">
              <a:lnSpc>
                <a:spcPct val="100000"/>
              </a:lnSpc>
              <a:spcBef>
                <a:spcPct val="0"/>
              </a:spcBef>
              <a:spcAft>
                <a:spcPct val="0"/>
              </a:spcAft>
              <a:buFont typeface="+mj-lt"/>
              <a:buAutoNum type="arabicPeriod" startAt="4"/>
            </a:pPr>
            <a:endParaRPr lang="en-US" sz="2400" dirty="0">
              <a:latin typeface="Times New Roman" pitchFamily="18" charset="0"/>
              <a:cs typeface="Times New Roman" pitchFamily="18" charset="0"/>
            </a:endParaRPr>
          </a:p>
          <a:p>
            <a:pPr marL="457200" lvl="0" indent="-457200" eaLnBrk="0" fontAlgn="base" hangingPunct="0">
              <a:lnSpc>
                <a:spcPct val="100000"/>
              </a:lnSpc>
              <a:spcBef>
                <a:spcPct val="0"/>
              </a:spcBef>
              <a:spcAft>
                <a:spcPct val="0"/>
              </a:spcAft>
              <a:buFont typeface="+mj-lt"/>
              <a:buAutoNum type="arabicPeriod" startAt="4"/>
            </a:pPr>
            <a:r>
              <a:rPr lang="en-US" sz="2400" dirty="0">
                <a:latin typeface="Times New Roman" pitchFamily="18" charset="0"/>
                <a:cs typeface="Times New Roman" pitchFamily="18" charset="0"/>
              </a:rPr>
              <a:t>Results Interpretation and </a:t>
            </a:r>
            <a:r>
              <a:rPr lang="en-US" sz="2400" dirty="0" err="1">
                <a:latin typeface="Times New Roman" pitchFamily="18" charset="0"/>
                <a:cs typeface="Times New Roman" pitchFamily="18" charset="0"/>
              </a:rPr>
              <a:t>Presentation:Present</a:t>
            </a:r>
            <a:r>
              <a:rPr lang="en-US" sz="2400" dirty="0">
                <a:latin typeface="Times New Roman" pitchFamily="18" charset="0"/>
                <a:cs typeface="Times New Roman" pitchFamily="18" charset="0"/>
              </a:rPr>
              <a:t> findings through dashboards, reports, or graphical representations, making the results easily interpretable for decision-makers.</a:t>
            </a:r>
          </a:p>
          <a:p>
            <a:pPr marL="457200" lvl="0" indent="-457200" eaLnBrk="0" fontAlgn="base" hangingPunct="0">
              <a:lnSpc>
                <a:spcPct val="100000"/>
              </a:lnSpc>
              <a:spcBef>
                <a:spcPct val="0"/>
              </a:spcBef>
              <a:spcAft>
                <a:spcPct val="0"/>
              </a:spcAft>
              <a:buFont typeface="+mj-lt"/>
              <a:buAutoNum type="arabicPeriod" startAt="4"/>
            </a:pPr>
            <a:endParaRPr lang="en-US" sz="2400" dirty="0">
              <a:latin typeface="Times New Roman" pitchFamily="18" charset="0"/>
              <a:cs typeface="Times New Roman" pitchFamily="18" charset="0"/>
            </a:endParaRPr>
          </a:p>
          <a:p>
            <a:pPr marL="457200" lvl="0" indent="-457200" eaLnBrk="0" fontAlgn="base" hangingPunct="0">
              <a:lnSpc>
                <a:spcPct val="100000"/>
              </a:lnSpc>
              <a:spcBef>
                <a:spcPct val="0"/>
              </a:spcBef>
              <a:spcAft>
                <a:spcPct val="0"/>
              </a:spcAft>
              <a:buFont typeface="+mj-lt"/>
              <a:buAutoNum type="arabicPeriod" startAt="4"/>
            </a:pPr>
            <a:r>
              <a:rPr lang="en-US" sz="2400" dirty="0">
                <a:latin typeface="Times New Roman" pitchFamily="18" charset="0"/>
                <a:cs typeface="Times New Roman" pitchFamily="18" charset="0"/>
              </a:rPr>
              <a:t>Future Work and </a:t>
            </a:r>
            <a:r>
              <a:rPr lang="en-US" sz="2400" dirty="0" err="1">
                <a:latin typeface="Times New Roman" pitchFamily="18" charset="0"/>
                <a:cs typeface="Times New Roman" pitchFamily="18" charset="0"/>
              </a:rPr>
              <a:t>Improvements:Consider</a:t>
            </a:r>
            <a:r>
              <a:rPr lang="en-US" sz="2400" dirty="0">
                <a:latin typeface="Times New Roman" pitchFamily="18" charset="0"/>
                <a:cs typeface="Times New Roman" pitchFamily="18" charset="0"/>
              </a:rPr>
              <a:t> real-time deployment options, enabling dynamic yield forecasting and continuous improvement based on fresh data.</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lvl="0" indent="-457200" eaLnBrk="0" fontAlgn="base" hangingPunct="0">
              <a:lnSpc>
                <a:spcPct val="100000"/>
              </a:lnSpc>
              <a:spcBef>
                <a:spcPct val="0"/>
              </a:spcBef>
              <a:spcAft>
                <a:spcPct val="0"/>
              </a:spcAft>
              <a:buFont typeface="+mj-lt"/>
              <a:buAutoNum type="arabicPeriod" startAt="4"/>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6085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3C5DC-CF4E-94A5-F857-1A49C36A8B33}"/>
              </a:ext>
            </a:extLst>
          </p:cNvPr>
          <p:cNvSpPr>
            <a:spLocks noGrp="1"/>
          </p:cNvSpPr>
          <p:nvPr>
            <p:ph type="title"/>
          </p:nvPr>
        </p:nvSpPr>
        <p:spPr>
          <a:xfrm>
            <a:off x="0" y="171162"/>
            <a:ext cx="10515600" cy="1024763"/>
          </a:xfrm>
        </p:spPr>
        <p:txBody>
          <a:bodyPr>
            <a:normAutofit/>
          </a:bodyPr>
          <a:lstStyle/>
          <a:p>
            <a:r>
              <a:rPr lang="en-US" b="1" dirty="0">
                <a:latin typeface="Times New Roman" panose="02020603050405020304" pitchFamily="18" charset="0"/>
                <a:cs typeface="Times New Roman" panose="02020603050405020304" pitchFamily="18" charset="0"/>
              </a:rPr>
              <a:t>Challenges</a:t>
            </a:r>
            <a:endParaRPr lang="en-IN" sz="3600" b="1"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1AF4F06F-9C32-6CE6-530C-AD8A8E99F38D}"/>
              </a:ext>
            </a:extLst>
          </p:cNvPr>
          <p:cNvSpPr>
            <a:spLocks noGrp="1" noChangeArrowheads="1"/>
          </p:cNvSpPr>
          <p:nvPr>
            <p:ph idx="1"/>
          </p:nvPr>
        </p:nvSpPr>
        <p:spPr bwMode="auto">
          <a:xfrm>
            <a:off x="124689" y="1205553"/>
            <a:ext cx="1154083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algn="just" eaLnBrk="0" fontAlgn="base" hangingPunct="0">
              <a:lnSpc>
                <a:spcPct val="100000"/>
              </a:lnSpc>
              <a:spcBef>
                <a:spcPct val="0"/>
              </a:spcBef>
              <a:spcAft>
                <a:spcPct val="0"/>
              </a:spcAft>
              <a:buFont typeface="+mj-lt"/>
              <a:buAutoNum type="arabicPeriod"/>
            </a:pPr>
            <a:r>
              <a:rPr lang="en-US" sz="2400" dirty="0">
                <a:latin typeface="Times New Roman" pitchFamily="18" charset="0"/>
                <a:cs typeface="Times New Roman" pitchFamily="18" charset="0"/>
              </a:rPr>
              <a:t>Data Quality and Availability:- Inconsistent data formats, Missing or incomplete data</a:t>
            </a:r>
          </a:p>
          <a:p>
            <a:pPr marL="457200" lvl="0" indent="-457200" algn="just" eaLnBrk="0" fontAlgn="base" hangingPunct="0">
              <a:lnSpc>
                <a:spcPct val="100000"/>
              </a:lnSpc>
              <a:spcBef>
                <a:spcPct val="0"/>
              </a:spcBef>
              <a:spcAft>
                <a:spcPct val="0"/>
              </a:spcAft>
              <a:buFont typeface="+mj-lt"/>
              <a:buAutoNum type="arabicPeriod"/>
            </a:pPr>
            <a:endParaRPr lang="en-US" sz="2400" dirty="0">
              <a:latin typeface="Times New Roman" pitchFamily="18" charset="0"/>
              <a:cs typeface="Times New Roman" pitchFamily="18" charset="0"/>
            </a:endParaRPr>
          </a:p>
          <a:p>
            <a:pPr marL="457200" lvl="0" indent="-457200" algn="just" eaLnBrk="0" fontAlgn="base" hangingPunct="0">
              <a:lnSpc>
                <a:spcPct val="100000"/>
              </a:lnSpc>
              <a:spcBef>
                <a:spcPct val="0"/>
              </a:spcBef>
              <a:spcAft>
                <a:spcPct val="0"/>
              </a:spcAft>
              <a:buFont typeface="+mj-lt"/>
              <a:buAutoNum type="arabicPeriod"/>
            </a:pPr>
            <a:r>
              <a:rPr lang="en-US" sz="2400" dirty="0">
                <a:latin typeface="Times New Roman" pitchFamily="18" charset="0"/>
                <a:cs typeface="Times New Roman" pitchFamily="18" charset="0"/>
              </a:rPr>
              <a:t>High Variability in Influencing Factors:- Environmental variability, Geographical diversity</a:t>
            </a:r>
          </a:p>
          <a:p>
            <a:pPr marL="457200" lvl="0" indent="-457200" algn="just" eaLnBrk="0" fontAlgn="base" hangingPunct="0">
              <a:lnSpc>
                <a:spcPct val="100000"/>
              </a:lnSpc>
              <a:spcBef>
                <a:spcPct val="0"/>
              </a:spcBef>
              <a:spcAft>
                <a:spcPct val="0"/>
              </a:spcAft>
              <a:buFont typeface="+mj-lt"/>
              <a:buAutoNum type="arabicPeriod"/>
            </a:pPr>
            <a:endParaRPr lang="en-US" sz="2400" dirty="0">
              <a:latin typeface="Times New Roman" pitchFamily="18" charset="0"/>
              <a:cs typeface="Times New Roman" pitchFamily="18" charset="0"/>
            </a:endParaRPr>
          </a:p>
          <a:p>
            <a:pPr marL="457200" lvl="0" indent="-457200" algn="just" eaLnBrk="0" fontAlgn="base" hangingPunct="0">
              <a:lnSpc>
                <a:spcPct val="100000"/>
              </a:lnSpc>
              <a:spcBef>
                <a:spcPct val="0"/>
              </a:spcBef>
              <a:spcAft>
                <a:spcPct val="0"/>
              </a:spcAft>
              <a:buFont typeface="+mj-lt"/>
              <a:buAutoNum type="arabicPeriod"/>
            </a:pPr>
            <a:r>
              <a:rPr lang="en-US" altLang="en-US" sz="2400" dirty="0">
                <a:latin typeface="Times New Roman" panose="02020603050405020304" pitchFamily="18" charset="0"/>
                <a:cs typeface="Times New Roman" panose="02020603050405020304" pitchFamily="18" charset="0"/>
              </a:rPr>
              <a:t>Model Complexity </a:t>
            </a:r>
            <a:r>
              <a:rPr lang="en-US" altLang="en-US" sz="2400" dirty="0" err="1">
                <a:latin typeface="Times New Roman" panose="02020603050405020304" pitchFamily="18" charset="0"/>
                <a:cs typeface="Times New Roman" panose="02020603050405020304" pitchFamily="18" charset="0"/>
              </a:rPr>
              <a:t>vs</a:t>
            </a:r>
            <a:r>
              <a:rPr lang="en-US" altLang="en-US" sz="2400" dirty="0">
                <a:latin typeface="Times New Roman" panose="02020603050405020304" pitchFamily="18" charset="0"/>
                <a:cs typeface="Times New Roman" panose="02020603050405020304" pitchFamily="18" charset="0"/>
              </a:rPr>
              <a:t> Interpretability</a:t>
            </a:r>
          </a:p>
          <a:p>
            <a:pPr marL="457200" lvl="0" indent="-457200" algn="just" eaLnBrk="0" fontAlgn="base" hangingPunct="0">
              <a:lnSpc>
                <a:spcPct val="100000"/>
              </a:lnSpc>
              <a:spcBef>
                <a:spcPct val="0"/>
              </a:spcBef>
              <a:spcAft>
                <a:spcPct val="0"/>
              </a:spcAft>
              <a:buFont typeface="+mj-lt"/>
              <a:buAutoNum type="arabicPeriod"/>
            </a:pPr>
            <a:endParaRPr lang="en-US" altLang="en-US" sz="2400" dirty="0">
              <a:latin typeface="Times New Roman" panose="02020603050405020304" pitchFamily="18" charset="0"/>
              <a:cs typeface="Times New Roman" panose="02020603050405020304" pitchFamily="18" charset="0"/>
            </a:endParaRPr>
          </a:p>
          <a:p>
            <a:pPr marL="457200" lvl="0" indent="-457200" algn="just" eaLnBrk="0" fontAlgn="base" hangingPunct="0">
              <a:lnSpc>
                <a:spcPct val="100000"/>
              </a:lnSpc>
              <a:spcBef>
                <a:spcPct val="0"/>
              </a:spcBef>
              <a:spcAft>
                <a:spcPct val="0"/>
              </a:spcAft>
              <a:buFont typeface="+mj-lt"/>
              <a:buAutoNum type="arabicPeriod"/>
            </a:pPr>
            <a:r>
              <a:rPr lang="en-US" sz="2400" dirty="0">
                <a:latin typeface="Times New Roman" pitchFamily="18" charset="0"/>
                <a:cs typeface="Times New Roman" pitchFamily="18" charset="0"/>
              </a:rPr>
              <a:t>External and Unpredictable Factors:- Pests, diseases, or market disruptions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lvl="0" indent="-457200" algn="just" eaLnBrk="0" fontAlgn="base" hangingPunct="0">
              <a:lnSpc>
                <a:spcPct val="100000"/>
              </a:lnSpc>
              <a:spcBef>
                <a:spcPct val="0"/>
              </a:spcBef>
              <a:spcAft>
                <a:spcPct val="0"/>
              </a:spcAft>
              <a:buFont typeface="+mj-lt"/>
              <a:buAutoNum type="arabicPeriod"/>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1450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0F718-0D05-F9D6-4AC6-B745B7236F27}"/>
              </a:ext>
            </a:extLst>
          </p:cNvPr>
          <p:cNvSpPr>
            <a:spLocks noGrp="1"/>
          </p:cNvSpPr>
          <p:nvPr>
            <p:ph type="title"/>
          </p:nvPr>
        </p:nvSpPr>
        <p:spPr>
          <a:xfrm>
            <a:off x="0" y="226580"/>
            <a:ext cx="10515600" cy="860171"/>
          </a:xfrm>
        </p:spPr>
        <p:txBody>
          <a:bodyPr>
            <a:normAutofit/>
          </a:bodyPr>
          <a:lstStyle/>
          <a:p>
            <a:r>
              <a:rPr lang="en-IN" b="1" dirty="0">
                <a:latin typeface="Times New Roman" pitchFamily="18" charset="0"/>
                <a:cs typeface="Times New Roman" panose="02020603050405020304" pitchFamily="18" charset="0"/>
              </a:rPr>
              <a:t>Innovation and Future Scope</a:t>
            </a:r>
          </a:p>
        </p:txBody>
      </p:sp>
      <p:sp>
        <p:nvSpPr>
          <p:cNvPr id="3" name="Content Placeholder 2">
            <a:extLst>
              <a:ext uri="{FF2B5EF4-FFF2-40B4-BE49-F238E27FC236}">
                <a16:creationId xmlns:a16="http://schemas.microsoft.com/office/drawing/2014/main" id="{2AA995B9-F83A-6439-6D7C-5B133F18C845}"/>
              </a:ext>
            </a:extLst>
          </p:cNvPr>
          <p:cNvSpPr>
            <a:spLocks noGrp="1"/>
          </p:cNvSpPr>
          <p:nvPr>
            <p:ph idx="1"/>
          </p:nvPr>
        </p:nvSpPr>
        <p:spPr>
          <a:xfrm>
            <a:off x="117763" y="1185545"/>
            <a:ext cx="10515600" cy="5049000"/>
          </a:xfrm>
        </p:spPr>
        <p:txBody>
          <a:bodyPr>
            <a:noAutofit/>
          </a:bodyPr>
          <a:lstStyle/>
          <a:p>
            <a:pPr marL="0" indent="0">
              <a:buNone/>
            </a:pPr>
            <a:r>
              <a:rPr lang="en-IN" sz="2400" b="1" dirty="0">
                <a:latin typeface="Times New Roman" panose="02020603050405020304" pitchFamily="18" charset="0"/>
                <a:cs typeface="Times New Roman" panose="02020603050405020304" pitchFamily="18" charset="0"/>
              </a:rPr>
              <a:t>Innovation</a:t>
            </a:r>
            <a:r>
              <a:rPr lang="en-IN" sz="2400" dirty="0">
                <a:latin typeface="Times New Roman" panose="02020603050405020304" pitchFamily="18" charset="0"/>
                <a:cs typeface="Times New Roman" panose="02020603050405020304" pitchFamily="18" charset="0"/>
              </a:rPr>
              <a:t>: </a:t>
            </a:r>
          </a:p>
          <a:p>
            <a:pPr marL="457200" indent="-457200">
              <a:buFont typeface="+mj-lt"/>
              <a:buAutoNum type="arabicPeriod"/>
            </a:pPr>
            <a:r>
              <a:rPr lang="en-US" sz="2400" dirty="0">
                <a:latin typeface="Times New Roman" pitchFamily="18" charset="0"/>
                <a:cs typeface="Times New Roman" pitchFamily="18" charset="0"/>
              </a:rPr>
              <a:t>Crop-Specific  and Region-Specific Models</a:t>
            </a:r>
            <a:r>
              <a:rPr lang="en-IN" sz="2400" dirty="0">
                <a:latin typeface="Times New Roman" panose="02020603050405020304" pitchFamily="18" charset="0"/>
                <a:cs typeface="Times New Roman" panose="02020603050405020304" pitchFamily="18" charset="0"/>
              </a:rPr>
              <a:t>	</a:t>
            </a:r>
          </a:p>
          <a:p>
            <a:pPr marL="457200" indent="-457200">
              <a:buFont typeface="+mj-lt"/>
              <a:buAutoNum type="arabicPeriod"/>
            </a:pPr>
            <a:endParaRPr lang="en-IN"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400" dirty="0">
                <a:latin typeface="Times New Roman" panose="02020603050405020304" pitchFamily="18" charset="0"/>
                <a:cs typeface="Times New Roman" panose="02020603050405020304" pitchFamily="18" charset="0"/>
              </a:rPr>
              <a:t>Decision Support</a:t>
            </a:r>
          </a:p>
          <a:p>
            <a:pPr marL="0" indent="0">
              <a:buNone/>
            </a:pPr>
            <a:endParaRPr lang="en-IN" sz="2400" b="1"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Future Scope</a:t>
            </a:r>
            <a:r>
              <a:rPr lang="en-IN" sz="2400" dirty="0">
                <a:latin typeface="Times New Roman" panose="02020603050405020304" pitchFamily="18" charset="0"/>
                <a:cs typeface="Times New Roman" panose="02020603050405020304" pitchFamily="18" charset="0"/>
              </a:rPr>
              <a:t>:</a:t>
            </a:r>
            <a:endParaRPr lang="en-IN" sz="2400" b="1"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itchFamily="18" charset="0"/>
                <a:cs typeface="Times New Roman" pitchFamily="18" charset="0"/>
              </a:rPr>
              <a:t>Integration with Remote Sensing Technologies</a:t>
            </a:r>
          </a:p>
          <a:p>
            <a:pPr marL="457200" indent="-457200">
              <a:buFont typeface="+mj-lt"/>
              <a:buAutoNum type="arabicPeriod"/>
            </a:pPr>
            <a:endParaRPr lang="en-US" sz="2400" dirty="0">
              <a:latin typeface="Times New Roman" pitchFamily="18" charset="0"/>
              <a:cs typeface="Times New Roman" pitchFamily="18" charset="0"/>
            </a:endParaRPr>
          </a:p>
          <a:p>
            <a:pPr marL="457200" indent="-457200">
              <a:buFont typeface="+mj-lt"/>
              <a:buAutoNum type="arabicPeriod"/>
            </a:pPr>
            <a:r>
              <a:rPr lang="en-US" sz="2400" dirty="0">
                <a:latin typeface="Times New Roman" pitchFamily="18" charset="0"/>
                <a:cs typeface="Times New Roman" pitchFamily="18" charset="0"/>
              </a:rPr>
              <a:t>Integration with Remote Sensing Technologies</a:t>
            </a:r>
          </a:p>
          <a:p>
            <a:pPr marL="457200" indent="-457200">
              <a:buFont typeface="+mj-lt"/>
              <a:buAutoNum type="arabicPeriod"/>
            </a:pPr>
            <a:endParaRPr lang="en-US" sz="2400" dirty="0">
              <a:latin typeface="Times New Roman" pitchFamily="18" charset="0"/>
              <a:cs typeface="Times New Roman" pitchFamily="18" charset="0"/>
            </a:endParaRPr>
          </a:p>
          <a:p>
            <a:pPr marL="457200" indent="-457200">
              <a:buFont typeface="+mj-lt"/>
              <a:buAutoNum type="arabicPeriod"/>
            </a:pPr>
            <a:r>
              <a:rPr lang="en-US" sz="2400" dirty="0">
                <a:latin typeface="Times New Roman" pitchFamily="18" charset="0"/>
                <a:cs typeface="Times New Roman" pitchFamily="18" charset="0"/>
              </a:rPr>
              <a:t>Yield Optimization and Simulation</a:t>
            </a:r>
          </a:p>
          <a:p>
            <a:pPr marL="0" indent="0">
              <a:buNone/>
            </a:pPr>
            <a:endParaRPr lang="en-US" sz="2400" dirty="0">
              <a:latin typeface="Times New Roman" pitchFamily="18" charset="0"/>
              <a:cs typeface="Times New Roman" pitchFamily="18" charset="0"/>
            </a:endParaRPr>
          </a:p>
          <a:p>
            <a:pPr marL="457200" indent="-457200">
              <a:buFont typeface="+mj-lt"/>
              <a:buAutoNum type="arabicPeriod"/>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9499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2AEF9-499D-F50A-DA08-2B06EA192933}"/>
              </a:ext>
            </a:extLst>
          </p:cNvPr>
          <p:cNvSpPr>
            <a:spLocks noGrp="1"/>
          </p:cNvSpPr>
          <p:nvPr>
            <p:ph type="title"/>
          </p:nvPr>
        </p:nvSpPr>
        <p:spPr>
          <a:xfrm>
            <a:off x="0" y="-110836"/>
            <a:ext cx="10515600" cy="1088771"/>
          </a:xfrm>
        </p:spPr>
        <p:txBody>
          <a:bodyPr>
            <a:normAutofit/>
          </a:bodyPr>
          <a:lstStyle/>
          <a:p>
            <a:r>
              <a:rPr lang="en-US" b="1" dirty="0">
                <a:latin typeface="Times New Roman" panose="02020603050405020304" pitchFamily="18" charset="0"/>
                <a:cs typeface="Times New Roman" panose="02020603050405020304" pitchFamily="18" charset="0"/>
              </a:rPr>
              <a:t>Use Cases</a:t>
            </a: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CCCD44A0-9615-722D-BAA0-29477DC22266}"/>
              </a:ext>
            </a:extLst>
          </p:cNvPr>
          <p:cNvSpPr>
            <a:spLocks noGrp="1" noChangeArrowheads="1"/>
          </p:cNvSpPr>
          <p:nvPr>
            <p:ph idx="1"/>
          </p:nvPr>
        </p:nvSpPr>
        <p:spPr bwMode="auto">
          <a:xfrm>
            <a:off x="110004" y="678063"/>
            <a:ext cx="11652504"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en-US" altLang="en-US" sz="2400" b="1" dirty="0" err="1">
                <a:latin typeface="Times New Roman" panose="02020603050405020304" pitchFamily="18" charset="0"/>
                <a:cs typeface="Times New Roman" panose="02020603050405020304" pitchFamily="18" charset="0"/>
              </a:rPr>
              <a:t>Agri</a:t>
            </a:r>
            <a:r>
              <a:rPr lang="en-US" altLang="en-US" sz="2400" b="1" dirty="0">
                <a:latin typeface="Times New Roman" panose="02020603050405020304" pitchFamily="18" charset="0"/>
                <a:cs typeface="Times New Roman" panose="02020603050405020304" pitchFamily="18" charset="0"/>
              </a:rPr>
              <a:t> Field: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1.Farmers (Primary</a:t>
            </a:r>
            <a:r>
              <a:rPr kumimoji="0" lang="en-US" altLang="en-US" sz="2400" b="0"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Users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2400" dirty="0">
                <a:latin typeface="Times New Roman" panose="02020603050405020304" pitchFamily="18" charset="0"/>
                <a:cs typeface="Times New Roman" panose="02020603050405020304" pitchFamily="18" charset="0"/>
              </a:rPr>
              <a:t>2.Agricultural Advising Officers (Guides Farmers based on Prediction)</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2400" dirty="0">
                <a:latin typeface="Times New Roman" panose="02020603050405020304" pitchFamily="18" charset="0"/>
                <a:cs typeface="Times New Roman" panose="02020603050405020304" pitchFamily="18" charset="0"/>
              </a:rPr>
              <a:t>3.Policy Makers (Food Security can be Achieved and Preventive Measures Can be taken)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4.Researchers</a:t>
            </a:r>
            <a:r>
              <a:rPr kumimoji="0" lang="en-US" altLang="en-US" sz="2400" b="0"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(Impact of Weather, Chemicals on Yield)</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2400" dirty="0">
                <a:latin typeface="Times New Roman" panose="02020603050405020304" pitchFamily="18" charset="0"/>
                <a:cs typeface="Times New Roman" panose="02020603050405020304" pitchFamily="18" charset="0"/>
              </a:rPr>
              <a:t>5.Agri Financers </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lang="en-US" altLang="en-US" sz="2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2400" b="1" dirty="0">
                <a:latin typeface="Times New Roman" panose="02020603050405020304" pitchFamily="18" charset="0"/>
                <a:cs typeface="Times New Roman" panose="02020603050405020304" pitchFamily="18" charset="0"/>
              </a:rPr>
              <a:t>Manufacturing Field:</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2400" dirty="0">
                <a:latin typeface="Times New Roman" panose="02020603050405020304" pitchFamily="18" charset="0"/>
                <a:cs typeface="Times New Roman" panose="02020603050405020304" pitchFamily="18" charset="0"/>
              </a:rPr>
              <a:t>1.Supply Chain Planners</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2400" dirty="0">
                <a:latin typeface="Times New Roman" panose="02020603050405020304" pitchFamily="18" charset="0"/>
                <a:cs typeface="Times New Roman" panose="02020603050405020304" pitchFamily="18" charset="0"/>
              </a:rPr>
              <a:t>2.Production Managers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7942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F717B-C078-68B0-D160-A642C54C0FB3}"/>
              </a:ext>
            </a:extLst>
          </p:cNvPr>
          <p:cNvSpPr>
            <a:spLocks noGrp="1"/>
          </p:cNvSpPr>
          <p:nvPr>
            <p:ph type="ctrTitle"/>
          </p:nvPr>
        </p:nvSpPr>
        <p:spPr>
          <a:xfrm>
            <a:off x="1524000" y="584875"/>
            <a:ext cx="9144000" cy="148653"/>
          </a:xfrm>
        </p:spPr>
        <p:txBody>
          <a:bodyPr>
            <a:noAutofit/>
          </a:bodyPr>
          <a:lstStyle/>
          <a:p>
            <a:r>
              <a:rPr lang="en-IN" sz="4000" b="1" dirty="0">
                <a:latin typeface="Times New Roman" panose="02020603050405020304" pitchFamily="18" charset="0"/>
                <a:cs typeface="Times New Roman" panose="02020603050405020304" pitchFamily="18" charset="0"/>
              </a:rPr>
              <a:t>Abstract</a:t>
            </a:r>
          </a:p>
        </p:txBody>
      </p:sp>
      <p:sp>
        <p:nvSpPr>
          <p:cNvPr id="4" name="Rectangle 1">
            <a:extLst>
              <a:ext uri="{FF2B5EF4-FFF2-40B4-BE49-F238E27FC236}">
                <a16:creationId xmlns:a16="http://schemas.microsoft.com/office/drawing/2014/main" id="{803A1C47-5ACC-2387-775B-5ECB1CA8D573}"/>
              </a:ext>
            </a:extLst>
          </p:cNvPr>
          <p:cNvSpPr>
            <a:spLocks noGrp="1" noChangeArrowheads="1"/>
          </p:cNvSpPr>
          <p:nvPr>
            <p:ph type="subTitle" idx="1"/>
          </p:nvPr>
        </p:nvSpPr>
        <p:spPr bwMode="auto">
          <a:xfrm>
            <a:off x="356616" y="885186"/>
            <a:ext cx="11731752"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Bef>
                <a:spcPct val="0"/>
              </a:spcBef>
              <a:spcAft>
                <a:spcPct val="0"/>
              </a:spcAft>
              <a:buFontTx/>
              <a:buChar char="•"/>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Myers-Briggs Type Indicator (MBTI)</a:t>
            </a:r>
            <a:r>
              <a:rPr lang="en-US" dirty="0">
                <a:latin typeface="Times New Roman" panose="02020603050405020304" pitchFamily="18" charset="0"/>
                <a:cs typeface="Times New Roman" panose="02020603050405020304" pitchFamily="18" charset="0"/>
              </a:rPr>
              <a:t> is a personality framework that classifies individuals into </a:t>
            </a:r>
            <a:r>
              <a:rPr lang="en-US" b="1" dirty="0">
                <a:latin typeface="Times New Roman" panose="02020603050405020304" pitchFamily="18" charset="0"/>
                <a:cs typeface="Times New Roman" panose="02020603050405020304" pitchFamily="18" charset="0"/>
              </a:rPr>
              <a:t>16 distinct personality types</a:t>
            </a:r>
            <a:r>
              <a:rPr lang="en-US" dirty="0">
                <a:latin typeface="Times New Roman" panose="02020603050405020304" pitchFamily="18" charset="0"/>
                <a:cs typeface="Times New Roman" panose="02020603050405020304" pitchFamily="18" charset="0"/>
              </a:rPr>
              <a:t>.</a:t>
            </a:r>
          </a:p>
          <a:p>
            <a:pPr lvl="0" algn="l" eaLnBrk="0" fontAlgn="base" hangingPunct="0">
              <a:lnSpc>
                <a:spcPct val="100000"/>
              </a:lnSpc>
              <a:spcBef>
                <a:spcPct val="0"/>
              </a:spcBef>
              <a:spcAft>
                <a:spcPct val="0"/>
              </a:spcAf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l"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1.Extraversion (E) vs. Introversion (I)</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Sensing (S) vs. Intuition (N)</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Thinking (T) vs. Feeling (F)</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Judging (J) vs. Perceiving (P)</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Approach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first answer a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questionnaire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multiple-choice questions to identify preferences.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provide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input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deeper analysis.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Goal</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Combine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questionnaire responses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analysis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 more accurate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personality prediction</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0045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B5B7B-352B-FD34-9C08-700F5A237E25}"/>
              </a:ext>
            </a:extLst>
          </p:cNvPr>
          <p:cNvSpPr>
            <a:spLocks noGrp="1"/>
          </p:cNvSpPr>
          <p:nvPr>
            <p:ph type="title"/>
          </p:nvPr>
        </p:nvSpPr>
        <p:spPr>
          <a:xfrm>
            <a:off x="838200" y="145669"/>
            <a:ext cx="10515600" cy="951611"/>
          </a:xfrm>
        </p:spPr>
        <p:txBody>
          <a:bodyPr>
            <a:normAutofit/>
          </a:bodyPr>
          <a:lstStyle/>
          <a:p>
            <a:pPr algn="ctr"/>
            <a:r>
              <a:rPr lang="en-IN" sz="3200" b="1" dirty="0">
                <a:latin typeface="Times New Roman" panose="02020603050405020304" pitchFamily="18" charset="0"/>
                <a:cs typeface="Times New Roman" panose="02020603050405020304" pitchFamily="18" charset="0"/>
              </a:rPr>
              <a:t>Aim and Objectives</a:t>
            </a:r>
          </a:p>
        </p:txBody>
      </p:sp>
      <p:sp>
        <p:nvSpPr>
          <p:cNvPr id="6" name="Rectangle 3">
            <a:extLst>
              <a:ext uri="{FF2B5EF4-FFF2-40B4-BE49-F238E27FC236}">
                <a16:creationId xmlns:a16="http://schemas.microsoft.com/office/drawing/2014/main" id="{1F3B3058-4372-CBDC-C92F-10581C051BCE}"/>
              </a:ext>
            </a:extLst>
          </p:cNvPr>
          <p:cNvSpPr>
            <a:spLocks noGrp="1" noChangeArrowheads="1"/>
          </p:cNvSpPr>
          <p:nvPr>
            <p:ph idx="1"/>
          </p:nvPr>
        </p:nvSpPr>
        <p:spPr bwMode="auto">
          <a:xfrm>
            <a:off x="468335" y="1200740"/>
            <a:ext cx="11574313"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model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predicts MBTI personality types from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responses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input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Collection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Gather data through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questionnaire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text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Preprocessing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Clean and preprocess the text for ML models.</a:t>
            </a:r>
          </a:p>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Training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Train the model using algorithms like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Logistic Regression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Naive Bayes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AutoNum type="arabicPeriod" startAt="4"/>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Evaluate the model using metrics like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accuracy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precision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recall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4510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3C5DC-CF4E-94A5-F857-1A49C36A8B33}"/>
              </a:ext>
            </a:extLst>
          </p:cNvPr>
          <p:cNvSpPr>
            <a:spLocks noGrp="1"/>
          </p:cNvSpPr>
          <p:nvPr>
            <p:ph type="title"/>
          </p:nvPr>
        </p:nvSpPr>
        <p:spPr>
          <a:xfrm>
            <a:off x="838200" y="365125"/>
            <a:ext cx="10515600" cy="1024763"/>
          </a:xfrm>
        </p:spPr>
        <p:txBody>
          <a:bodyPr>
            <a:normAutofit/>
          </a:bodyPr>
          <a:lstStyle/>
          <a:p>
            <a:pPr algn="ctr"/>
            <a:r>
              <a:rPr lang="en-US" sz="3600" b="1" dirty="0">
                <a:latin typeface="Times New Roman" panose="02020603050405020304" pitchFamily="18" charset="0"/>
                <a:cs typeface="Times New Roman" panose="02020603050405020304" pitchFamily="18" charset="0"/>
              </a:rPr>
              <a:t>Challenges</a:t>
            </a:r>
            <a:endParaRPr lang="en-IN" sz="3600" b="1"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1AF4F06F-9C32-6CE6-530C-AD8A8E99F38D}"/>
              </a:ext>
            </a:extLst>
          </p:cNvPr>
          <p:cNvSpPr>
            <a:spLocks noGrp="1" noChangeArrowheads="1"/>
          </p:cNvSpPr>
          <p:nvPr>
            <p:ph idx="1"/>
          </p:nvPr>
        </p:nvSpPr>
        <p:spPr bwMode="auto">
          <a:xfrm>
            <a:off x="1194816" y="1542803"/>
            <a:ext cx="10600944"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Imbalance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Some MBTI types have more data, leading to biased predictions.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Ambiguity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expression may not fully reflect their true personality.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sz="2400" b="1" dirty="0">
                <a:latin typeface="Times New Roman" panose="02020603050405020304" pitchFamily="18" charset="0"/>
                <a:cs typeface="Times New Roman" panose="02020603050405020304" pitchFamily="18" charset="0"/>
              </a:rPr>
              <a:t>Short or Limited Text Data</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Some users write only a few line - this isn’t enough for deep personality prediction</a:t>
            </a:r>
            <a:r>
              <a:rPr lang="en-US" sz="2400" dirty="0"/>
              <a: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Noisy Data</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Social media data contains slang and irrelevant info.</a:t>
            </a:r>
          </a:p>
        </p:txBody>
      </p:sp>
    </p:spTree>
    <p:extLst>
      <p:ext uri="{BB962C8B-B14F-4D97-AF65-F5344CB8AC3E}">
        <p14:creationId xmlns:p14="http://schemas.microsoft.com/office/powerpoint/2010/main" val="2531450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0F718-0D05-F9D6-4AC6-B745B7236F27}"/>
              </a:ext>
            </a:extLst>
          </p:cNvPr>
          <p:cNvSpPr>
            <a:spLocks noGrp="1"/>
          </p:cNvSpPr>
          <p:nvPr>
            <p:ph type="title"/>
          </p:nvPr>
        </p:nvSpPr>
        <p:spPr>
          <a:xfrm>
            <a:off x="838200" y="365125"/>
            <a:ext cx="10515600" cy="860171"/>
          </a:xfrm>
        </p:spPr>
        <p:txBody>
          <a:bodyPr>
            <a:normAutofit/>
          </a:bodyPr>
          <a:lstStyle/>
          <a:p>
            <a:pPr algn="ctr"/>
            <a:r>
              <a:rPr lang="en-IN" sz="3600" b="1" dirty="0">
                <a:latin typeface="Times New Roman" panose="02020603050405020304" pitchFamily="18" charset="0"/>
                <a:cs typeface="Times New Roman" panose="02020603050405020304" pitchFamily="18" charset="0"/>
              </a:rPr>
              <a:t>Innovation and Future Scope</a:t>
            </a:r>
          </a:p>
        </p:txBody>
      </p:sp>
      <p:sp>
        <p:nvSpPr>
          <p:cNvPr id="3" name="Content Placeholder 2">
            <a:extLst>
              <a:ext uri="{FF2B5EF4-FFF2-40B4-BE49-F238E27FC236}">
                <a16:creationId xmlns:a16="http://schemas.microsoft.com/office/drawing/2014/main" id="{2AA995B9-F83A-6439-6D7C-5B133F18C845}"/>
              </a:ext>
            </a:extLst>
          </p:cNvPr>
          <p:cNvSpPr>
            <a:spLocks noGrp="1"/>
          </p:cNvSpPr>
          <p:nvPr>
            <p:ph idx="1"/>
          </p:nvPr>
        </p:nvSpPr>
        <p:spPr>
          <a:xfrm>
            <a:off x="838200" y="1642745"/>
            <a:ext cx="10515600" cy="4351338"/>
          </a:xfrm>
        </p:spPr>
        <p:txBody>
          <a:bodyPr>
            <a:normAutofit/>
          </a:bodyPr>
          <a:lstStyle/>
          <a:p>
            <a:r>
              <a:rPr lang="en-IN" sz="2400" b="1" dirty="0">
                <a:latin typeface="Times New Roman" panose="02020603050405020304" pitchFamily="18" charset="0"/>
                <a:cs typeface="Times New Roman" panose="02020603050405020304" pitchFamily="18" charset="0"/>
              </a:rPr>
              <a:t>Innovation</a:t>
            </a:r>
            <a:r>
              <a:rPr lang="en-IN" sz="2400" dirty="0">
                <a:latin typeface="Times New Roman" panose="02020603050405020304" pitchFamily="18" charset="0"/>
                <a:cs typeface="Times New Roman" panose="02020603050405020304" pitchFamily="18" charset="0"/>
              </a:rPr>
              <a:t>:</a:t>
            </a:r>
          </a:p>
          <a:p>
            <a:pPr lvl="1">
              <a:lnSpc>
                <a:spcPct val="150000"/>
              </a:lnSpc>
            </a:pPr>
            <a:r>
              <a:rPr lang="en-IN" dirty="0">
                <a:latin typeface="Times New Roman" panose="02020603050405020304" pitchFamily="18" charset="0"/>
                <a:cs typeface="Times New Roman" panose="02020603050405020304" pitchFamily="18" charset="0"/>
              </a:rPr>
              <a:t>Combines </a:t>
            </a:r>
            <a:r>
              <a:rPr lang="en-IN" b="1" dirty="0">
                <a:latin typeface="Times New Roman" panose="02020603050405020304" pitchFamily="18" charset="0"/>
                <a:cs typeface="Times New Roman" panose="02020603050405020304" pitchFamily="18" charset="0"/>
              </a:rPr>
              <a:t>text analysis</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questionnaire</a:t>
            </a:r>
            <a:r>
              <a:rPr lang="en-IN" dirty="0">
                <a:latin typeface="Times New Roman" panose="02020603050405020304" pitchFamily="18" charset="0"/>
                <a:cs typeface="Times New Roman" panose="02020603050405020304" pitchFamily="18" charset="0"/>
              </a:rPr>
              <a:t> for better accuracy</a:t>
            </a:r>
          </a:p>
          <a:p>
            <a:pPr lvl="1">
              <a:lnSpc>
                <a:spcPct val="150000"/>
              </a:lnSpc>
            </a:pPr>
            <a:r>
              <a:rPr lang="en-US" b="1" dirty="0">
                <a:latin typeface="Times New Roman" panose="02020603050405020304" pitchFamily="18" charset="0"/>
                <a:cs typeface="Times New Roman" panose="02020603050405020304" pitchFamily="18" charset="0"/>
              </a:rPr>
              <a:t>Real-Time Prediction </a:t>
            </a:r>
            <a:r>
              <a:rPr lang="en-US" dirty="0">
                <a:latin typeface="Times New Roman" panose="02020603050405020304" pitchFamily="18" charset="0"/>
                <a:cs typeface="Times New Roman" panose="02020603050405020304" pitchFamily="18" charset="0"/>
              </a:rPr>
              <a:t>Prototype for Career and Education Guidance</a:t>
            </a:r>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Future Scope</a:t>
            </a:r>
            <a:r>
              <a:rPr lang="en-IN" sz="2400" dirty="0">
                <a:latin typeface="Times New Roman" panose="02020603050405020304" pitchFamily="18" charset="0"/>
                <a:cs typeface="Times New Roman" panose="02020603050405020304" pitchFamily="18" charset="0"/>
              </a:rPr>
              <a:t>:</a:t>
            </a:r>
            <a:endParaRPr lang="en-IN" b="1" dirty="0">
              <a:latin typeface="Times New Roman" panose="02020603050405020304" pitchFamily="18" charset="0"/>
              <a:cs typeface="Times New Roman" panose="02020603050405020304" pitchFamily="18" charset="0"/>
            </a:endParaRPr>
          </a:p>
          <a:p>
            <a:pPr lvl="1">
              <a:lnSpc>
                <a:spcPct val="150000"/>
              </a:lnSpc>
            </a:pPr>
            <a:r>
              <a:rPr lang="en-IN" b="1" dirty="0">
                <a:latin typeface="Times New Roman" panose="02020603050405020304" pitchFamily="18" charset="0"/>
                <a:cs typeface="Times New Roman" panose="02020603050405020304" pitchFamily="18" charset="0"/>
              </a:rPr>
              <a:t>Multilingual Support</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Extend the system to work in </a:t>
            </a:r>
            <a:r>
              <a:rPr lang="en-US" b="1" dirty="0">
                <a:latin typeface="Times New Roman" panose="02020603050405020304" pitchFamily="18" charset="0"/>
                <a:cs typeface="Times New Roman" panose="02020603050405020304" pitchFamily="18" charset="0"/>
              </a:rPr>
              <a:t>multiple languages</a:t>
            </a:r>
            <a:endParaRPr lang="en-IN" dirty="0">
              <a:latin typeface="Times New Roman" panose="02020603050405020304" pitchFamily="18" charset="0"/>
              <a:cs typeface="Times New Roman" panose="02020603050405020304" pitchFamily="18" charset="0"/>
            </a:endParaRPr>
          </a:p>
          <a:p>
            <a:pPr lvl="1">
              <a:lnSpc>
                <a:spcPct val="150000"/>
              </a:lnSpc>
            </a:pPr>
            <a:r>
              <a:rPr lang="en-IN" b="1" dirty="0">
                <a:latin typeface="Times New Roman" panose="02020603050405020304" pitchFamily="18" charset="0"/>
                <a:cs typeface="Times New Roman" panose="02020603050405020304" pitchFamily="18" charset="0"/>
              </a:rPr>
              <a:t>Deep Learning</a:t>
            </a:r>
            <a:r>
              <a:rPr lang="en-IN" dirty="0">
                <a:latin typeface="Times New Roman" panose="02020603050405020304" pitchFamily="18" charset="0"/>
                <a:cs typeface="Times New Roman" panose="02020603050405020304" pitchFamily="18" charset="0"/>
              </a:rPr>
              <a:t>: Use </a:t>
            </a:r>
            <a:r>
              <a:rPr lang="en-IN" b="1" dirty="0">
                <a:latin typeface="Times New Roman" panose="02020603050405020304" pitchFamily="18" charset="0"/>
                <a:cs typeface="Times New Roman" panose="02020603050405020304" pitchFamily="18" charset="0"/>
              </a:rPr>
              <a:t>BERT</a:t>
            </a:r>
            <a:r>
              <a:rPr lang="en-IN" dirty="0">
                <a:latin typeface="Times New Roman" panose="02020603050405020304" pitchFamily="18" charset="0"/>
                <a:cs typeface="Times New Roman" panose="02020603050405020304" pitchFamily="18" charset="0"/>
              </a:rPr>
              <a:t> or </a:t>
            </a:r>
            <a:r>
              <a:rPr lang="en-IN" b="1" dirty="0">
                <a:latin typeface="Times New Roman" panose="02020603050405020304" pitchFamily="18" charset="0"/>
                <a:cs typeface="Times New Roman" panose="02020603050405020304" pitchFamily="18" charset="0"/>
              </a:rPr>
              <a:t>LSTM</a:t>
            </a:r>
            <a:r>
              <a:rPr lang="en-IN" dirty="0">
                <a:latin typeface="Times New Roman" panose="02020603050405020304" pitchFamily="18" charset="0"/>
                <a:cs typeface="Times New Roman" panose="02020603050405020304" pitchFamily="18" charset="0"/>
              </a:rPr>
              <a:t> for deeper text understanding</a:t>
            </a:r>
          </a:p>
          <a:p>
            <a:pPr lvl="1">
              <a:lnSpc>
                <a:spcPct val="150000"/>
              </a:lnSpc>
            </a:pPr>
            <a:r>
              <a:rPr lang="en-IN" b="1" dirty="0">
                <a:latin typeface="Times New Roman" panose="02020603050405020304" pitchFamily="18" charset="0"/>
                <a:cs typeface="Times New Roman" panose="02020603050405020304" pitchFamily="18" charset="0"/>
              </a:rPr>
              <a:t>Cross-Platform</a:t>
            </a:r>
            <a:r>
              <a:rPr lang="en-IN" dirty="0">
                <a:latin typeface="Times New Roman" panose="02020603050405020304" pitchFamily="18" charset="0"/>
                <a:cs typeface="Times New Roman" panose="02020603050405020304" pitchFamily="18" charset="0"/>
              </a:rPr>
              <a:t>: Compare results across platforms (Twitter, Instagram)</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9499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2AEF9-499D-F50A-DA08-2B06EA192933}"/>
              </a:ext>
            </a:extLst>
          </p:cNvPr>
          <p:cNvSpPr>
            <a:spLocks noGrp="1"/>
          </p:cNvSpPr>
          <p:nvPr>
            <p:ph type="title"/>
          </p:nvPr>
        </p:nvSpPr>
        <p:spPr>
          <a:xfrm>
            <a:off x="838200" y="0"/>
            <a:ext cx="10515600" cy="1088771"/>
          </a:xfrm>
        </p:spPr>
        <p:txBody>
          <a:bodyPr>
            <a:normAutofit/>
          </a:bodyPr>
          <a:lstStyle/>
          <a:p>
            <a:pPr algn="ctr"/>
            <a:r>
              <a:rPr lang="en-US" sz="3600" dirty="0">
                <a:latin typeface="Times New Roman" panose="02020603050405020304" pitchFamily="18" charset="0"/>
                <a:cs typeface="Times New Roman" panose="02020603050405020304" pitchFamily="18" charset="0"/>
              </a:rPr>
              <a:t>Use Case if</a:t>
            </a:r>
            <a:endParaRPr lang="en-IN" sz="36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CCCD44A0-9615-722D-BAA0-29477DC22266}"/>
              </a:ext>
            </a:extLst>
          </p:cNvPr>
          <p:cNvSpPr>
            <a:spLocks noGrp="1" noChangeArrowheads="1"/>
          </p:cNvSpPr>
          <p:nvPr>
            <p:ph idx="1"/>
          </p:nvPr>
        </p:nvSpPr>
        <p:spPr bwMode="auto">
          <a:xfrm>
            <a:off x="691896" y="1324530"/>
            <a:ext cx="10372344"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Career Counseling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Suggest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careers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based on personality type.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Leadership Development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Tailor leadership training to fit personality types.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Hiring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Evaluate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candidates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based on personality fit.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Education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Customize learning approaches based on personality types.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 Growth</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Help individuals understand their strengths and areas for improvement.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7942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749A-E1A6-A552-6B42-CCAE7AC2CE39}"/>
              </a:ext>
            </a:extLst>
          </p:cNvPr>
          <p:cNvSpPr>
            <a:spLocks noGrp="1"/>
          </p:cNvSpPr>
          <p:nvPr>
            <p:ph type="ctrTitle"/>
          </p:nvPr>
        </p:nvSpPr>
        <p:spPr>
          <a:xfrm>
            <a:off x="1318437" y="85061"/>
            <a:ext cx="9349563" cy="871869"/>
          </a:xfrm>
        </p:spPr>
        <p:txBody>
          <a:bodyPr>
            <a:normAutofit/>
          </a:bodyPr>
          <a:lstStyle/>
          <a:p>
            <a:r>
              <a:rPr lang="en-GB" sz="4000" dirty="0">
                <a:latin typeface="Times New Roman" panose="02020603050405020304" pitchFamily="18" charset="0"/>
                <a:cs typeface="Times New Roman" panose="02020603050405020304" pitchFamily="18" charset="0"/>
              </a:rPr>
              <a:t>Abstract</a:t>
            </a:r>
            <a:endParaRPr lang="en-IN" sz="4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FC7BA9D-FF03-9F9D-4646-4064005A616C}"/>
              </a:ext>
            </a:extLst>
          </p:cNvPr>
          <p:cNvSpPr>
            <a:spLocks noGrp="1"/>
          </p:cNvSpPr>
          <p:nvPr>
            <p:ph type="subTitle" idx="1"/>
          </p:nvPr>
        </p:nvSpPr>
        <p:spPr>
          <a:xfrm>
            <a:off x="1318437" y="1095153"/>
            <a:ext cx="9349563" cy="5178055"/>
          </a:xfrm>
        </p:spPr>
        <p:txBody>
          <a:bodyPr/>
          <a:lstStyle/>
          <a:p>
            <a:pPr algn="just"/>
            <a:r>
              <a:rPr lang="en-GB" dirty="0">
                <a:latin typeface="Times New Roman" panose="02020603050405020304" pitchFamily="18" charset="0"/>
                <a:cs typeface="Times New Roman" panose="02020603050405020304" pitchFamily="18" charset="0"/>
              </a:rPr>
              <a:t>In today’s digital economy, user reviews play a crucial role in shaping consumer </a:t>
            </a:r>
            <a:r>
              <a:rPr lang="en-GB" dirty="0" err="1">
                <a:latin typeface="Times New Roman" panose="02020603050405020304" pitchFamily="18" charset="0"/>
                <a:cs typeface="Times New Roman" panose="02020603050405020304" pitchFamily="18" charset="0"/>
              </a:rPr>
              <a:t>behavior</a:t>
            </a:r>
            <a:r>
              <a:rPr lang="en-GB" dirty="0">
                <a:latin typeface="Times New Roman" panose="02020603050405020304" pitchFamily="18" charset="0"/>
                <a:cs typeface="Times New Roman" panose="02020603050405020304" pitchFamily="18" charset="0"/>
              </a:rPr>
              <a:t> and business reputation. However, </a:t>
            </a:r>
            <a:r>
              <a:rPr lang="en-GB" dirty="0" err="1">
                <a:latin typeface="Times New Roman" panose="02020603050405020304" pitchFamily="18" charset="0"/>
                <a:cs typeface="Times New Roman" panose="02020603050405020304" pitchFamily="18" charset="0"/>
              </a:rPr>
              <a:t>analyzing</a:t>
            </a:r>
            <a:r>
              <a:rPr lang="en-GB" dirty="0">
                <a:latin typeface="Times New Roman" panose="02020603050405020304" pitchFamily="18" charset="0"/>
                <a:cs typeface="Times New Roman" panose="02020603050405020304" pitchFamily="18" charset="0"/>
              </a:rPr>
              <a:t> large volumes of unstructured review data manually is time-consuming and often ineffective. This project focuses on automating the review analysis process using Natural Language Processing (NLP) techniques to extract sentiment and classify reviews. Furthermore, it leverages machine learning models to generate predictive insights, enabling businesses to anticipate future customer satisfaction and product performance. The integration of sentiment analysis, fake review detection, and predictive </a:t>
            </a:r>
            <a:r>
              <a:rPr lang="en-GB" dirty="0" err="1">
                <a:latin typeface="Times New Roman" panose="02020603050405020304" pitchFamily="18" charset="0"/>
                <a:cs typeface="Times New Roman" panose="02020603050405020304" pitchFamily="18" charset="0"/>
              </a:rPr>
              <a:t>modeling</a:t>
            </a:r>
            <a:r>
              <a:rPr lang="en-GB" dirty="0">
                <a:latin typeface="Times New Roman" panose="02020603050405020304" pitchFamily="18" charset="0"/>
                <a:cs typeface="Times New Roman" panose="02020603050405020304" pitchFamily="18" charset="0"/>
              </a:rPr>
              <a:t> offers a powerful tool for making data-driven decisions in real time.</a:t>
            </a:r>
          </a:p>
          <a:p>
            <a:endParaRPr lang="en-IN" dirty="0"/>
          </a:p>
        </p:txBody>
      </p:sp>
    </p:spTree>
    <p:extLst>
      <p:ext uri="{BB962C8B-B14F-4D97-AF65-F5344CB8AC3E}">
        <p14:creationId xmlns:p14="http://schemas.microsoft.com/office/powerpoint/2010/main" val="17161474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0AAE1-9932-19AF-DE91-5BF4D572A101}"/>
              </a:ext>
            </a:extLst>
          </p:cNvPr>
          <p:cNvSpPr>
            <a:spLocks noGrp="1"/>
          </p:cNvSpPr>
          <p:nvPr>
            <p:ph type="title"/>
          </p:nvPr>
        </p:nvSpPr>
        <p:spPr>
          <a:xfrm>
            <a:off x="838200" y="125128"/>
            <a:ext cx="10515600" cy="1029904"/>
          </a:xfrm>
        </p:spPr>
        <p:txBody>
          <a:bodyPr>
            <a:normAutofit/>
          </a:bodyPr>
          <a:lstStyle/>
          <a:p>
            <a:pPr algn="ctr"/>
            <a:r>
              <a:rPr lang="en-GB" sz="4000" dirty="0">
                <a:latin typeface="Times New Roman" panose="02020603050405020304" pitchFamily="18" charset="0"/>
                <a:cs typeface="Times New Roman" panose="02020603050405020304" pitchFamily="18" charset="0"/>
              </a:rPr>
              <a:t>Aim and Objectives</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587F887-0CF4-6B2B-1920-8E81F8B42A9D}"/>
              </a:ext>
            </a:extLst>
          </p:cNvPr>
          <p:cNvSpPr>
            <a:spLocks noGrp="1"/>
          </p:cNvSpPr>
          <p:nvPr>
            <p:ph idx="1"/>
          </p:nvPr>
        </p:nvSpPr>
        <p:spPr>
          <a:xfrm>
            <a:off x="838200" y="981778"/>
            <a:ext cx="10515600" cy="5876222"/>
          </a:xfrm>
        </p:spPr>
        <p:txBody>
          <a:bodyPr>
            <a:normAutofit/>
          </a:bodyPr>
          <a:lstStyle/>
          <a:p>
            <a:r>
              <a:rPr lang="en-GB" sz="2400" b="1" dirty="0">
                <a:latin typeface="Times New Roman" panose="02020603050405020304" pitchFamily="18" charset="0"/>
                <a:cs typeface="Times New Roman" panose="02020603050405020304" pitchFamily="18" charset="0"/>
              </a:rPr>
              <a:t>Aim:</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To develop a machine learning-based system that </a:t>
            </a:r>
            <a:r>
              <a:rPr lang="en-GB" sz="2400" dirty="0" err="1">
                <a:latin typeface="Times New Roman" panose="02020603050405020304" pitchFamily="18" charset="0"/>
                <a:cs typeface="Times New Roman" panose="02020603050405020304" pitchFamily="18" charset="0"/>
              </a:rPr>
              <a:t>analyzes</a:t>
            </a:r>
            <a:r>
              <a:rPr lang="en-GB" sz="2400" dirty="0">
                <a:latin typeface="Times New Roman" panose="02020603050405020304" pitchFamily="18" charset="0"/>
                <a:cs typeface="Times New Roman" panose="02020603050405020304" pitchFamily="18" charset="0"/>
              </a:rPr>
              <a:t> user reviews and generates predictive insights to support better decision-making.</a:t>
            </a:r>
          </a:p>
          <a:p>
            <a:r>
              <a:rPr lang="en-GB" sz="2400" b="1" dirty="0">
                <a:latin typeface="Times New Roman" panose="02020603050405020304" pitchFamily="18" charset="0"/>
                <a:cs typeface="Times New Roman" panose="02020603050405020304" pitchFamily="18" charset="0"/>
              </a:rPr>
              <a:t>Objectives:</a:t>
            </a:r>
          </a:p>
          <a:p>
            <a:r>
              <a:rPr lang="en-GB" sz="2400" b="1" dirty="0"/>
              <a:t>Data Collection &amp; Cleaning</a:t>
            </a:r>
            <a:r>
              <a:rPr lang="en-GB" sz="2400" dirty="0"/>
              <a:t>: Gather review data and remove noise for accurate analysis.</a:t>
            </a:r>
          </a:p>
          <a:p>
            <a:r>
              <a:rPr lang="en-GB" sz="2400" b="1" dirty="0"/>
              <a:t>Sentiment Analysis</a:t>
            </a:r>
            <a:r>
              <a:rPr lang="en-GB" sz="2400" dirty="0"/>
              <a:t>: Identify the emotional tone of reviews </a:t>
            </a:r>
          </a:p>
          <a:p>
            <a:r>
              <a:rPr lang="en-GB" sz="2400" b="1" dirty="0"/>
              <a:t>Fake Review Detection</a:t>
            </a:r>
            <a:r>
              <a:rPr lang="en-GB" sz="2400" dirty="0"/>
              <a:t>: Classify and eliminate misleading or spam reviews using ML.</a:t>
            </a:r>
          </a:p>
          <a:p>
            <a:r>
              <a:rPr lang="en-GB" sz="2400" b="1" dirty="0"/>
              <a:t>Predictive </a:t>
            </a:r>
            <a:r>
              <a:rPr lang="en-GB" sz="2400" b="1" dirty="0" err="1"/>
              <a:t>Modeling</a:t>
            </a:r>
            <a:r>
              <a:rPr lang="en-GB" sz="2400" dirty="0"/>
              <a:t>: Forecast future user sentiment or product ratings.</a:t>
            </a:r>
          </a:p>
          <a:p>
            <a:r>
              <a:rPr lang="en-GB" sz="2400" b="1" dirty="0"/>
              <a:t>Insight Visualization</a:t>
            </a:r>
            <a:r>
              <a:rPr lang="en-GB" sz="2400" dirty="0"/>
              <a:t>: Present findings using charts and graphs for easy interpretation.</a:t>
            </a:r>
          </a:p>
          <a:p>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2766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C7935-64C9-C6A8-C0BE-90607ECF1304}"/>
              </a:ext>
            </a:extLst>
          </p:cNvPr>
          <p:cNvSpPr>
            <a:spLocks noGrp="1"/>
          </p:cNvSpPr>
          <p:nvPr>
            <p:ph type="title"/>
          </p:nvPr>
        </p:nvSpPr>
        <p:spPr>
          <a:xfrm>
            <a:off x="838200" y="132397"/>
            <a:ext cx="10515600" cy="1097279"/>
          </a:xfrm>
        </p:spPr>
        <p:txBody>
          <a:bodyPr/>
          <a:lstStyle/>
          <a:p>
            <a:pPr algn="ctr"/>
            <a:r>
              <a:rPr lang="en-US" sz="4000" b="1" dirty="0">
                <a:latin typeface="Times New Roman" panose="02020603050405020304" pitchFamily="18" charset="0"/>
                <a:cs typeface="Times New Roman" panose="02020603050405020304" pitchFamily="18" charset="0"/>
              </a:rPr>
              <a:t>Challeng</a:t>
            </a:r>
            <a:r>
              <a:rPr lang="en-US" b="1" dirty="0">
                <a:latin typeface="Times New Roman" panose="02020603050405020304" pitchFamily="18" charset="0"/>
                <a:cs typeface="Times New Roman" panose="02020603050405020304" pitchFamily="18" charset="0"/>
              </a:rPr>
              <a:t>es</a:t>
            </a:r>
            <a:endParaRPr lang="en-IN" dirty="0"/>
          </a:p>
        </p:txBody>
      </p:sp>
      <p:sp>
        <p:nvSpPr>
          <p:cNvPr id="3" name="Content Placeholder 2">
            <a:extLst>
              <a:ext uri="{FF2B5EF4-FFF2-40B4-BE49-F238E27FC236}">
                <a16:creationId xmlns:a16="http://schemas.microsoft.com/office/drawing/2014/main" id="{79708376-B357-D850-D8E6-EC7117AAED26}"/>
              </a:ext>
            </a:extLst>
          </p:cNvPr>
          <p:cNvSpPr>
            <a:spLocks noGrp="1"/>
          </p:cNvSpPr>
          <p:nvPr>
            <p:ph idx="1"/>
          </p:nvPr>
        </p:nvSpPr>
        <p:spPr>
          <a:xfrm>
            <a:off x="838200" y="1424539"/>
            <a:ext cx="10515600" cy="4417996"/>
          </a:xfrm>
        </p:spPr>
        <p:txBody>
          <a:bodyPr/>
          <a:lstStyle/>
          <a:p>
            <a:r>
              <a:rPr lang="en-GB" sz="2400" b="1" dirty="0"/>
              <a:t>Unstructured Text</a:t>
            </a:r>
            <a:r>
              <a:rPr lang="en-GB" sz="2400" dirty="0"/>
              <a:t>: Reviews are written in free-form, making it hard to extract meaningful patterns.</a:t>
            </a:r>
          </a:p>
          <a:p>
            <a:r>
              <a:rPr lang="en-GB" sz="2400" b="1" dirty="0"/>
              <a:t>Sarcasm &amp; Ambiguity</a:t>
            </a:r>
            <a:r>
              <a:rPr lang="en-GB" sz="2400" dirty="0"/>
              <a:t>: Models struggle to correctly interpret sarcastic or unclear language.</a:t>
            </a:r>
          </a:p>
          <a:p>
            <a:r>
              <a:rPr lang="en-GB" sz="2400" b="1" dirty="0"/>
              <a:t>Imbalanced Data</a:t>
            </a:r>
            <a:r>
              <a:rPr lang="en-GB" sz="2400" dirty="0"/>
              <a:t>: Uneven distribution of positive and negative reviews affects model accuracy.</a:t>
            </a:r>
          </a:p>
          <a:p>
            <a:r>
              <a:rPr lang="en-GB" sz="2400" b="1" dirty="0"/>
              <a:t>Fake Reviews</a:t>
            </a:r>
            <a:r>
              <a:rPr lang="en-GB" sz="2400" dirty="0"/>
              <a:t>: Detecting deceptive or bot-generated reviews is difficult without clear markers.</a:t>
            </a:r>
          </a:p>
          <a:p>
            <a:endParaRPr lang="en-IN" dirty="0"/>
          </a:p>
        </p:txBody>
      </p:sp>
    </p:spTree>
    <p:extLst>
      <p:ext uri="{BB962C8B-B14F-4D97-AF65-F5344CB8AC3E}">
        <p14:creationId xmlns:p14="http://schemas.microsoft.com/office/powerpoint/2010/main" val="356772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398E2-A3B2-8934-D96F-D26C1040B1B8}"/>
              </a:ext>
            </a:extLst>
          </p:cNvPr>
          <p:cNvSpPr>
            <a:spLocks noGrp="1"/>
          </p:cNvSpPr>
          <p:nvPr>
            <p:ph type="title"/>
          </p:nvPr>
        </p:nvSpPr>
        <p:spPr>
          <a:xfrm>
            <a:off x="838200" y="365126"/>
            <a:ext cx="10515600" cy="828408"/>
          </a:xfrm>
        </p:spPr>
        <p:txBody>
          <a:bodyPr>
            <a:normAutofit/>
          </a:bodyPr>
          <a:lstStyle/>
          <a:p>
            <a:pPr algn="ctr"/>
            <a:r>
              <a:rPr lang="en-IN" sz="4000" b="1" dirty="0">
                <a:latin typeface="Times New Roman" panose="02020603050405020304" pitchFamily="18" charset="0"/>
                <a:cs typeface="Times New Roman" panose="02020603050405020304" pitchFamily="18" charset="0"/>
              </a:rPr>
              <a:t>Innovation and Future Scope</a:t>
            </a:r>
            <a:endParaRPr lang="en-IN" sz="4000" dirty="0"/>
          </a:p>
        </p:txBody>
      </p:sp>
      <p:sp>
        <p:nvSpPr>
          <p:cNvPr id="3" name="Content Placeholder 2">
            <a:extLst>
              <a:ext uri="{FF2B5EF4-FFF2-40B4-BE49-F238E27FC236}">
                <a16:creationId xmlns:a16="http://schemas.microsoft.com/office/drawing/2014/main" id="{B2FD20DC-B91A-8587-259B-79A156BE9A65}"/>
              </a:ext>
            </a:extLst>
          </p:cNvPr>
          <p:cNvSpPr>
            <a:spLocks noGrp="1"/>
          </p:cNvSpPr>
          <p:nvPr>
            <p:ph idx="1"/>
          </p:nvPr>
        </p:nvSpPr>
        <p:spPr>
          <a:xfrm>
            <a:off x="838200" y="1434164"/>
            <a:ext cx="10515600" cy="4742799"/>
          </a:xfrm>
        </p:spPr>
        <p:txBody>
          <a:bodyPr>
            <a:normAutofit/>
          </a:bodyPr>
          <a:lstStyle/>
          <a:p>
            <a:r>
              <a:rPr lang="en-GB" sz="2400" b="1" dirty="0">
                <a:latin typeface="Times New Roman" panose="02020603050405020304" pitchFamily="18" charset="0"/>
                <a:cs typeface="Times New Roman" panose="02020603050405020304" pitchFamily="18" charset="0"/>
              </a:rPr>
              <a:t>Innovation:</a:t>
            </a:r>
          </a:p>
          <a:p>
            <a:r>
              <a:rPr lang="en-GB" sz="2400" b="1" dirty="0">
                <a:latin typeface="Times New Roman" panose="02020603050405020304" pitchFamily="18" charset="0"/>
                <a:cs typeface="Times New Roman" panose="02020603050405020304" pitchFamily="18" charset="0"/>
              </a:rPr>
              <a:t>ML + NLP Together</a:t>
            </a:r>
            <a:r>
              <a:rPr lang="en-GB" sz="2400" dirty="0">
                <a:latin typeface="Times New Roman" panose="02020603050405020304" pitchFamily="18" charset="0"/>
                <a:cs typeface="Times New Roman" panose="02020603050405020304" pitchFamily="18" charset="0"/>
              </a:rPr>
              <a:t>: Mixes machine learning with language tools to find meaning in reviews.</a:t>
            </a:r>
          </a:p>
          <a:p>
            <a:r>
              <a:rPr lang="en-GB" sz="2400" b="1" dirty="0">
                <a:latin typeface="Times New Roman" panose="02020603050405020304" pitchFamily="18" charset="0"/>
                <a:cs typeface="Times New Roman" panose="02020603050405020304" pitchFamily="18" charset="0"/>
              </a:rPr>
              <a:t>Predicting the Future</a:t>
            </a:r>
            <a:r>
              <a:rPr lang="en-GB" sz="2400" dirty="0">
                <a:latin typeface="Times New Roman" panose="02020603050405020304" pitchFamily="18" charset="0"/>
                <a:cs typeface="Times New Roman" panose="02020603050405020304" pitchFamily="18" charset="0"/>
              </a:rPr>
              <a:t>: Shows what customers might feel or rate in the future.</a:t>
            </a:r>
          </a:p>
          <a:p>
            <a:r>
              <a:rPr lang="en-GB" sz="2400" b="1" dirty="0">
                <a:latin typeface="Times New Roman" panose="02020603050405020304" pitchFamily="18" charset="0"/>
                <a:cs typeface="Times New Roman" panose="02020603050405020304" pitchFamily="18" charset="0"/>
              </a:rPr>
              <a:t>Real Data Used</a:t>
            </a:r>
            <a:r>
              <a:rPr lang="en-GB" sz="2400" dirty="0">
                <a:latin typeface="Times New Roman" panose="02020603050405020304" pitchFamily="18" charset="0"/>
                <a:cs typeface="Times New Roman" panose="02020603050405020304" pitchFamily="18" charset="0"/>
              </a:rPr>
              <a:t>: Uses actual product reviews for real results.</a:t>
            </a:r>
          </a:p>
          <a:p>
            <a:endParaRPr lang="en-GB" sz="2400" dirty="0">
              <a:latin typeface="Times New Roman" panose="02020603050405020304" pitchFamily="18" charset="0"/>
              <a:cs typeface="Times New Roman" panose="02020603050405020304" pitchFamily="18" charset="0"/>
            </a:endParaRPr>
          </a:p>
          <a:p>
            <a:r>
              <a:rPr lang="en-GB" sz="2400" b="1" dirty="0">
                <a:latin typeface="Times New Roman" panose="02020603050405020304" pitchFamily="18" charset="0"/>
                <a:cs typeface="Times New Roman" panose="02020603050405020304" pitchFamily="18" charset="0"/>
              </a:rPr>
              <a:t>Future Scope:</a:t>
            </a:r>
          </a:p>
          <a:p>
            <a:r>
              <a:rPr lang="en-GB" sz="2400" b="1" dirty="0">
                <a:latin typeface="Times New Roman" panose="02020603050405020304" pitchFamily="18" charset="0"/>
                <a:cs typeface="Times New Roman" panose="02020603050405020304" pitchFamily="18" charset="0"/>
              </a:rPr>
              <a:t>Live Review Checking</a:t>
            </a:r>
            <a:r>
              <a:rPr lang="en-GB" sz="2400" dirty="0">
                <a:latin typeface="Times New Roman" panose="02020603050405020304" pitchFamily="18" charset="0"/>
                <a:cs typeface="Times New Roman" panose="02020603050405020304" pitchFamily="18" charset="0"/>
              </a:rPr>
              <a:t>: Can work with reviews as they come online.</a:t>
            </a:r>
          </a:p>
          <a:p>
            <a:r>
              <a:rPr lang="en-GB" sz="2400" b="1" dirty="0">
                <a:latin typeface="Times New Roman" panose="02020603050405020304" pitchFamily="18" charset="0"/>
                <a:cs typeface="Times New Roman" panose="02020603050405020304" pitchFamily="18" charset="0"/>
              </a:rPr>
              <a:t>Support for Many Languages</a:t>
            </a:r>
            <a:r>
              <a:rPr lang="en-GB" sz="2400" dirty="0">
                <a:latin typeface="Times New Roman" panose="02020603050405020304" pitchFamily="18" charset="0"/>
                <a:cs typeface="Times New Roman" panose="02020603050405020304" pitchFamily="18" charset="0"/>
              </a:rPr>
              <a:t>: Can be improved to read other languages too.</a:t>
            </a:r>
          </a:p>
          <a:p>
            <a:r>
              <a:rPr lang="en-GB" sz="2400" b="1" dirty="0">
                <a:latin typeface="Times New Roman" panose="02020603050405020304" pitchFamily="18" charset="0"/>
                <a:cs typeface="Times New Roman" panose="02020603050405020304" pitchFamily="18" charset="0"/>
              </a:rPr>
              <a:t>Smarter Models</a:t>
            </a:r>
            <a:r>
              <a:rPr lang="en-GB" sz="2400" dirty="0">
                <a:latin typeface="Times New Roman" panose="02020603050405020304" pitchFamily="18" charset="0"/>
                <a:cs typeface="Times New Roman" panose="02020603050405020304" pitchFamily="18" charset="0"/>
              </a:rPr>
              <a:t>: Can use better models (like BERT) to understand reviews more deeply.</a:t>
            </a:r>
          </a:p>
          <a:p>
            <a:endParaRPr lang="en-IN" dirty="0"/>
          </a:p>
        </p:txBody>
      </p:sp>
    </p:spTree>
    <p:extLst>
      <p:ext uri="{BB962C8B-B14F-4D97-AF65-F5344CB8AC3E}">
        <p14:creationId xmlns:p14="http://schemas.microsoft.com/office/powerpoint/2010/main" val="7583029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966DF-9334-0DAD-AEF7-2F61C1F70BD8}"/>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Use Case </a:t>
            </a:r>
            <a:endParaRPr lang="en-IN" sz="4000" dirty="0"/>
          </a:p>
        </p:txBody>
      </p:sp>
      <p:sp>
        <p:nvSpPr>
          <p:cNvPr id="3" name="Content Placeholder 2">
            <a:extLst>
              <a:ext uri="{FF2B5EF4-FFF2-40B4-BE49-F238E27FC236}">
                <a16:creationId xmlns:a16="http://schemas.microsoft.com/office/drawing/2014/main" id="{AC88B3FB-E13C-3BDC-99FF-2F11A2E30908}"/>
              </a:ext>
            </a:extLst>
          </p:cNvPr>
          <p:cNvSpPr>
            <a:spLocks noGrp="1"/>
          </p:cNvSpPr>
          <p:nvPr>
            <p:ph idx="1"/>
          </p:nvPr>
        </p:nvSpPr>
        <p:spPr/>
        <p:txBody>
          <a:bodyPr/>
          <a:lstStyle/>
          <a:p>
            <a:r>
              <a:rPr lang="en-GB" sz="2400" b="1" dirty="0">
                <a:latin typeface="Times New Roman" panose="02020603050405020304" pitchFamily="18" charset="0"/>
                <a:cs typeface="Times New Roman" panose="02020603050405020304" pitchFamily="18" charset="0"/>
              </a:rPr>
              <a:t>E-commerce Platforms</a:t>
            </a:r>
            <a:r>
              <a:rPr lang="en-GB" sz="2400" dirty="0">
                <a:latin typeface="Times New Roman" panose="02020603050405020304" pitchFamily="18" charset="0"/>
                <a:cs typeface="Times New Roman" panose="02020603050405020304" pitchFamily="18" charset="0"/>
              </a:rPr>
              <a:t>: Help sites like Amazon detect fake reviews and suggest better products.</a:t>
            </a:r>
          </a:p>
          <a:p>
            <a:r>
              <a:rPr lang="en-GB" sz="2400" b="1" dirty="0">
                <a:latin typeface="Times New Roman" panose="02020603050405020304" pitchFamily="18" charset="0"/>
                <a:cs typeface="Times New Roman" panose="02020603050405020304" pitchFamily="18" charset="0"/>
              </a:rPr>
              <a:t>Travel &amp; Hospitality</a:t>
            </a:r>
            <a:r>
              <a:rPr lang="en-GB" sz="2400" dirty="0">
                <a:latin typeface="Times New Roman" panose="02020603050405020304" pitchFamily="18" charset="0"/>
                <a:cs typeface="Times New Roman" panose="02020603050405020304" pitchFamily="18" charset="0"/>
              </a:rPr>
              <a:t>: </a:t>
            </a:r>
            <a:r>
              <a:rPr lang="en-GB" sz="2400" dirty="0" err="1">
                <a:latin typeface="Times New Roman" panose="02020603050405020304" pitchFamily="18" charset="0"/>
                <a:cs typeface="Times New Roman" panose="02020603050405020304" pitchFamily="18" charset="0"/>
              </a:rPr>
              <a:t>Analyze</a:t>
            </a:r>
            <a:r>
              <a:rPr lang="en-GB" sz="2400" dirty="0">
                <a:latin typeface="Times New Roman" panose="02020603050405020304" pitchFamily="18" charset="0"/>
                <a:cs typeface="Times New Roman" panose="02020603050405020304" pitchFamily="18" charset="0"/>
              </a:rPr>
              <a:t> hotel reviews to improve guest experience and service quality.</a:t>
            </a:r>
          </a:p>
          <a:p>
            <a:r>
              <a:rPr lang="en-GB" sz="2400" b="1" dirty="0">
                <a:latin typeface="Times New Roman" panose="02020603050405020304" pitchFamily="18" charset="0"/>
                <a:cs typeface="Times New Roman" panose="02020603050405020304" pitchFamily="18" charset="0"/>
              </a:rPr>
              <a:t>Entertainment Platforms</a:t>
            </a:r>
            <a:r>
              <a:rPr lang="en-GB" sz="2400" dirty="0">
                <a:latin typeface="Times New Roman" panose="02020603050405020304" pitchFamily="18" charset="0"/>
                <a:cs typeface="Times New Roman" panose="02020603050405020304" pitchFamily="18" charset="0"/>
              </a:rPr>
              <a:t>: Understand what people like or dislike in shows or movies.</a:t>
            </a:r>
          </a:p>
          <a:p>
            <a:r>
              <a:rPr lang="en-GB" sz="2400" b="1" dirty="0">
                <a:latin typeface="Times New Roman" panose="02020603050405020304" pitchFamily="18" charset="0"/>
                <a:cs typeface="Times New Roman" panose="02020603050405020304" pitchFamily="18" charset="0"/>
              </a:rPr>
              <a:t>Retail Businesses</a:t>
            </a:r>
            <a:r>
              <a:rPr lang="en-GB" sz="2400" dirty="0">
                <a:latin typeface="Times New Roman" panose="02020603050405020304" pitchFamily="18" charset="0"/>
                <a:cs typeface="Times New Roman" panose="02020603050405020304" pitchFamily="18" charset="0"/>
              </a:rPr>
              <a:t>: Use reviews to guess how well a product will do in the future.</a:t>
            </a:r>
          </a:p>
          <a:p>
            <a:endParaRPr lang="en-IN" dirty="0"/>
          </a:p>
        </p:txBody>
      </p:sp>
    </p:spTree>
    <p:extLst>
      <p:ext uri="{BB962C8B-B14F-4D97-AF65-F5344CB8AC3E}">
        <p14:creationId xmlns:p14="http://schemas.microsoft.com/office/powerpoint/2010/main" val="33690136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177</TotalTime>
  <Words>1430</Words>
  <Application>Microsoft Office PowerPoint</Application>
  <PresentationFormat>Widescreen</PresentationFormat>
  <Paragraphs>154</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Aim and Objectives</vt:lpstr>
      <vt:lpstr>PowerPoint Presentation</vt:lpstr>
      <vt:lpstr>Challenges</vt:lpstr>
      <vt:lpstr>Innovation and Future Scope</vt:lpstr>
      <vt:lpstr>Use Cases</vt:lpstr>
      <vt:lpstr>Abstract</vt:lpstr>
      <vt:lpstr>Aim and Objectives</vt:lpstr>
      <vt:lpstr>Challenges</vt:lpstr>
      <vt:lpstr>Innovation and Future Scope</vt:lpstr>
      <vt:lpstr>Use Case if</vt:lpstr>
      <vt:lpstr>Abstract</vt:lpstr>
      <vt:lpstr>Aim and Objectives</vt:lpstr>
      <vt:lpstr>Challenges</vt:lpstr>
      <vt:lpstr>Innovation and Future Scope</vt:lpstr>
      <vt:lpstr>Use Case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MANAS TORANE</dc:creator>
  <cp:lastModifiedBy>MANAS TORANE</cp:lastModifiedBy>
  <cp:revision>23</cp:revision>
  <dcterms:created xsi:type="dcterms:W3CDTF">2025-07-21T14:33:42Z</dcterms:created>
  <dcterms:modified xsi:type="dcterms:W3CDTF">2025-07-23T17:30:05Z</dcterms:modified>
</cp:coreProperties>
</file>